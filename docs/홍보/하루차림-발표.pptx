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173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발표 자료 · 2026년 9월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7132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6858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 환자의 하루 한 상을,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근거로 차립니다.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harucharim.com  ·  방사선종양학과 전문의 감수</a:t>
            </a:r>
          </a:p>
        </p:txBody>
      </p:sp>
      <p:pic>
        <p:nvPicPr>
          <p:cNvPr id="8" name="Picture 7" descr="icon-5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1600200"/>
            <a:ext cx="310896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27648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 쇼에서 클릭하거나 → 키로 넘깁니다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3194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진료실에서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“선생님, 뭘 먹어야 하나요?”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9692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가장 자주 나오는 질문입니다. 그런데 답을 정리해 드릴 시간은 가장 적습니다.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하루차림은 그 빈자리를 </a:t>
            </a: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 채우려고 만든 앱입니다 — 지금 이 사람의 암종·치료 시기·증상·드시는 약에 맞춰서.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 10 · 증상과 상태 17 · 약제 18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792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하나 · 수록 데이터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5852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291,378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5120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식품 데이터를 싣고 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05156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188720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18,298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기본 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식약처 식품영양성분 DB · 손으로 다듬은 한식 542종 포함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03120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273,080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가공식품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제조사·품목보고번호가 있는 시판 제품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090672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163824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230,027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바코드  </a:t>
            </a:r>
            <a:r>
              <a:rPr sz="11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베타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제품명은 대부분 확인되지만, 영양성분까지 나오는 것은 약 30%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4078224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151376"/>
            <a:ext cx="50566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3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45,618</a:t>
            </a: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   </a:t>
            </a:r>
            <a:r>
              <a:rPr sz="15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시판 영양제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식품과 따로 셉니다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5065776"/>
            <a:ext cx="505663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725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기본 식품과 가공식품은 출처가 다른 별개 기록입니다. 이름이 같은 1,985건(예: 현미밥)은 일반 음식과 특정 회사 제품이라 따로 셌고, 바코드와 영양제는 합계에 넣지 않았습니다.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앱에 18,298종 내장 · 나머지는 원하시는 분만 내려받습니다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71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둘 · 추천 알고리즘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315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개 판단 엔진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한 사람의 상태를 받아 한 상을 차리기까지, 각자 한 가지 일만 합니다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611880"/>
            <a:ext cx="2011680" cy="1280160"/>
          </a:xfrm>
          <a:prstGeom prst="roundRect">
            <a:avLst>
              <a:gd name="adj" fmla="val 12000"/>
            </a:avLst>
          </a:prstGeom>
          <a:noFill/>
          <a:ln w="19050">
            <a:solidFill>
              <a:srgbClr val="4B69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환자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암종 · 치료 시기 · 증상 · 드시는 약 · 체중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4251960"/>
            <a:ext cx="566928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20440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 목표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ESPEN 기준 열량·단백질을 체중과 시기에 맞춤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0528" y="301752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음식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권장·주의·피하세요, 약과의 상호작용까지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식단 구성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밥 + 반찬 두셋 + 국, 한 상의 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0528" y="384048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성분 판정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영양제에 든 성분을 하나씩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영양제 조언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근거가 있는 것과 없는 것을 나눔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0528" y="4663440"/>
            <a:ext cx="2880360" cy="731520"/>
          </a:xfrm>
          <a:prstGeom prst="roundRect">
            <a:avLst>
              <a:gd name="adj" fmla="val 14000"/>
            </a:avLst>
          </a:prstGeom>
          <a:solidFill>
            <a:srgbClr val="EEF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>
              <a:spcAft>
                <a:spcPts val="100"/>
              </a:spcAft>
            </a:pPr>
            <a:r>
              <a:rPr sz="15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하루·주·월 평가</a:t>
            </a:r>
          </a:p>
          <a:p>
            <a:pPr algn="l">
              <a:spcAft>
                <a:spcPts val="0"/>
              </a:spcAft>
            </a:pPr>
            <a:r>
              <a:rPr sz="10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모자란 것과 넘치는 것을 짚음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509760" y="4251960"/>
            <a:ext cx="548640" cy="0"/>
          </a:xfrm>
          <a:prstGeom prst="line">
            <a:avLst/>
          </a:prstGeom>
          <a:ln w="25400">
            <a:solidFill>
              <a:srgbClr val="4B69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149840" y="3611880"/>
            <a:ext cx="1307592" cy="1280160"/>
          </a:xfrm>
          <a:prstGeom prst="roundRect">
            <a:avLst>
              <a:gd name="adj" fmla="val 12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오늘의</a:t>
            </a:r>
          </a:p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한 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src/engine — menu · rules · nutrition · ingredientVerdict · supplementAdvice · dayScore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37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79873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셋 · 임상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158 개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영양 규칙 130개 + 약물·음식 상호작용 28개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5303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168종 참고 문헌 — 전부 원문과 대조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36개 영양제 성분 규칙</a:t>
            </a:r>
            <a:r>
              <a:rPr sz="15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영양 규칙 130개의 근거 등급 — 화면에 그대로 붙습니다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91640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31152" y="1847088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31152" y="1847088"/>
            <a:ext cx="669526" cy="164592"/>
          </a:xfrm>
          <a:prstGeom prst="roundRect">
            <a:avLst>
              <a:gd name="adj" fmla="val 50000"/>
            </a:avLst>
          </a:prstGeom>
          <a:solidFill>
            <a:srgbClr val="324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64040" y="17099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178308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무작위 임상시험 · 메타분석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404872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31152" y="2560320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31152" y="2560320"/>
            <a:ext cx="1046135" cy="164592"/>
          </a:xfrm>
          <a:prstGeom prst="roundRect">
            <a:avLst>
              <a:gd name="adj" fmla="val 50000"/>
            </a:avLst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242316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49631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대규모 전향 코호트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118104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31152" y="3273552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31152" y="3273552"/>
            <a:ext cx="962444" cy="164592"/>
          </a:xfrm>
          <a:prstGeom prst="roundRect">
            <a:avLst>
              <a:gd name="adj" fmla="val 50000"/>
            </a:avLst>
          </a:prstGeom>
          <a:solidFill>
            <a:srgbClr val="CCD9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313639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49840" y="3209544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소규모 · 후향 · 기전 연구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831335"/>
            <a:ext cx="475488" cy="475488"/>
          </a:xfrm>
          <a:prstGeom prst="roundRect">
            <a:avLst>
              <a:gd name="adj" fmla="val 2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1152" y="3986783"/>
            <a:ext cx="2468880" cy="164592"/>
          </a:xfrm>
          <a:prstGeom prst="roundRect">
            <a:avLst>
              <a:gd name="adj" fmla="val 50000"/>
            </a:avLst>
          </a:prstGeom>
          <a:solidFill>
            <a:srgbClr val="A568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64040" y="3849623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65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922775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주요 학회 지침의 합의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61772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G 가 가장 많은 것은 숨길 일이 아닙니다. 식이 영역은 무작위 시험이 드물고, 학회 지침이 그 자리를 메웁니다. 등급을 부풀리지 않고 그대로 보여 드립니다.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ESPEN · ASCO · ACS · MASCC · IARC · WCRF · 한국인 영양소 섭취기준 외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2" presetClass="entr" presetSubtype="8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넷 ·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3,531,402</a:t>
            </a:r>
            <a:r>
              <a:rPr sz="2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의 추천을 하나하나 검사했습니다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3,000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 환자 — 암종·시기·증상·약을 무작위로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620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한 사람이 석 달을 지나가 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063240"/>
            <a:ext cx="2560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270,000</a:t>
            </a: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일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가상의 식단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10896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28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=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34340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4526280"/>
            <a:ext cx="1188720" cy="1188720"/>
          </a:xfrm>
          <a:prstGeom prst="ellipse">
            <a:avLst/>
          </a:prstGeom>
          <a:solidFill>
            <a:srgbClr val="F6EAD9"/>
          </a:solidFill>
          <a:ln w="38100">
            <a:solidFill>
              <a:srgbClr val="A568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4617720"/>
            <a:ext cx="9326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피해야 할 것을 권한 경우 0건.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검사 24종이 고칠 때마다 돕니다. 검사는 앱이 쓰는 기준을 빌리지 않고 따로 세웁니다 — 같은 기준으로 재면 같이 틀리기 때문입니다.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2026년 9월 대규모 실행 · 서로 다른 음식 221종이 쓰임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111822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다섯 · 원문 대조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참고 문헌을 원문과 다시 읽고 고친 것 (2026년 9월 대조)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29968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오심에 생강차를 권하면서, 와파린을 드시는 분의 출혈 위험 경고가 없었습니다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경고를 붙였습니다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5292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수술 뒤 4~6주 식사를 가리라고 적었습니다. 회복 지침(ERAS)은 당일부터 드시기를 권합니다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방향을 바로잡았습니다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03320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730752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찾을 수 없는 논문 한 편, 구독자 전용이라 대조할 수 없는 지침 하나를 인용하고 있었습니다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인용에서 뺐습니다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53712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581144"/>
            <a:ext cx="107259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나트륨 기준을 2,000 mg 으로 적었습니다. 한국인 섭취기준의 만성질환위험감소량은 2,300 mg 입니다</a:t>
            </a:r>
            <a:r>
              <a:rPr sz="16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   →   </a:t>
            </a:r>
            <a:r>
              <a:rPr sz="1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고쳤습니다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404104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532120"/>
            <a:ext cx="107259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숫자는 대개 맞았습니다. 틀린 것은 </a:t>
            </a:r>
            <a:r>
              <a:rPr sz="1900" b="1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“그 논문이 정말 그 말을 하는가”</a:t>
            </a:r>
            <a:r>
              <a:rPr sz="19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였습니다.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근거를 부풀리지도, 낮추지도 않는다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0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779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여섯 · 화면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한 번 누르면 이유까지 나옵니다</a:t>
            </a:r>
          </a:p>
        </p:txBody>
      </p:sp>
      <p:pic>
        <p:nvPicPr>
          <p:cNvPr id="6" name="Picture 5" descr="1-sugge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60020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오늘 무엇을 드실지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암종·시기·증상에 맞춘 한 상</a:t>
            </a:r>
          </a:p>
        </p:txBody>
      </p:sp>
      <p:pic>
        <p:nvPicPr>
          <p:cNvPr id="8" name="Picture 7" descr="3-se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75488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이거 먹어도 되나요?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자몽 · 피하세요 · 근거와 함께</a:t>
            </a:r>
          </a:p>
        </p:txBody>
      </p:sp>
      <p:pic>
        <p:nvPicPr>
          <p:cNvPr id="10" name="Picture 9" descr="4-sup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783080"/>
            <a:ext cx="1828800" cy="3255264"/>
          </a:xfrm>
          <a:prstGeom prst="rect">
            <a:avLst/>
          </a:prstGeom>
          <a:ln w="38100">
            <a:solidFill>
              <a:srgbClr val="282621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909560" y="5166360"/>
            <a:ext cx="2743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200"/>
              </a:spcAft>
            </a:pPr>
            <a:r>
              <a:rPr sz="1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근거가 있는 것과 없는 것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드시는 약과의 상호작용까지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예시 — 유방암 · 호르몬수용체 양성 · 항암치료 중 · 타목시펜 복용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일곱 · 무엇이 다른가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흔히 찾아보시는 곳과 견주면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783080"/>
          <a:ext cx="10725912" cy="36576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59352"/>
                <a:gridCol w="1353312"/>
                <a:gridCol w="1353312"/>
                <a:gridCol w="1353312"/>
                <a:gridCol w="1353312"/>
                <a:gridCol w="1353312"/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/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병원 안내문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검색 · 블로그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식단 배송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일반 식단 앱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32432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하루차림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지금 내 암종·치료 시기·증상에 맞춘 판정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판단마다 출처와 근거 등급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드시는 약과 음식의 상호작용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국·김치·젓갈까지 한국 밥상을 1회 제공량으로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파는 것이 없음 — 추천에 상업적 이해가 없음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A5682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◐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82621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건강 정보가 기기 밖으로 나가지 않음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7A756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○</a:t>
                      </a:r>
                    </a:p>
                  </a:txBody>
                  <a:tcPr marL="73152" marR="73152" anchor="ctr">
                    <a:solidFill>
                      <a:srgbClr val="FAF9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4B6936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●</a:t>
                      </a:r>
                    </a:p>
                  </a:txBody>
                  <a:tcPr marL="73152" marR="73152" anchor="ctr">
                    <a:solidFill>
                      <a:srgbClr val="EEF2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5577840"/>
            <a:ext cx="10725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있음    </a:t>
            </a:r>
            <a:r>
              <a:rPr sz="1100" b="0">
                <a:solidFill>
                  <a:srgbClr val="A5682F"/>
                </a:solidFill>
                <a:latin typeface="Apple SD Gothic Neo"/>
                <a:ea typeface="Apple SD Gothic Neo"/>
                <a:cs typeface="Apple SD Gothic Neo"/>
              </a:rPr>
              <a:t>◐ 일부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○ 없음    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— 일반적인 경우를 견준 것이며, 곳마다 다릅니다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특정 서비스가 아니라 갈래를 견준 것입니다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여덟 · 개인정보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515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적어 두신 건강 정보는 기기 밖으로 나가지 않습니다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4160520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41605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21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이 기기 안에만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암종 · 치료 시기 · 병기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체중 · 신장 · 나이의 실제 수치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증상과 드시는 약의 내용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· 식단 기록과 영양 계산</a:t>
            </a:r>
          </a:p>
        </p:txBody>
      </p:sp>
      <p:sp>
        <p:nvSpPr>
          <p:cNvPr id="8" name="Rectangle 7"/>
          <p:cNvSpPr/>
          <p:nvPr/>
        </p:nvSpPr>
        <p:spPr>
          <a:xfrm>
            <a:off x="5212080" y="2148840"/>
            <a:ext cx="2971800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80" y="2377440"/>
            <a:ext cx="2971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서버로 가는 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로그인 식별자와, 직접 보내신 문의 글뿐입니다.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문의에 답을 드리기 위한 것입니다.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2148840"/>
            <a:ext cx="2999232" cy="54864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299923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따로 동의하신 경우에만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뭉갠 이용 통계 — 연령대(10년 단위), 체격 구간, 증상의 개수.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원본 수치는 받지 않습니다. 언제든 거두실 수 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개인정보처리방침 harucharim.com/privacy.html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175720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11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아홉 · 원칙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근거를 부풀리지도,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낮추지도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“아직 모릅니다”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라고 적은 항목이 여럿 있습니다. 확실한 것과 불확실한 것을 섞어 두면, 확실한 것까지 믿지 않게 되기 때문입니다.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의료기기가 아닙니다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진단하거나 치료 방침을 정하지 않습니다. 모든 화면에 담당 의료진의 지시가 우선한다고 적어 두었습니다.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3566160"/>
            <a:ext cx="3383280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3703320"/>
            <a:ext cx="3383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전문의 감수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암 환자를 25년간 치료해 온 방사선종양학과 전문의가 내용을 감수했습니다.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6236208"/>
            <a:ext cx="10725912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327648"/>
            <a:ext cx="8897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식품의약품안전처에 의료기기 해당 여부 질의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9" grpId="0" animBg="1"/>
      <p:bldP spid="1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61320" y="2743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12 /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지금 열어 보실 수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589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지금은 모든 기능 무료 · 광고 없음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식품이나 보충제를 팔지 않습니다</a:t>
            </a:r>
          </a:p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0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●  </a:t>
            </a:r>
            <a:r>
              <a:rPr sz="17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구글 플레이 출시 준비 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84632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 의료기기가 아니며 진단·치료를 목적으로 하지 않습니다. 치료에 관한 판단은 반드시 담당 의료진과 상의하십시오.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417320"/>
            <a:ext cx="3017520" cy="3429000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1587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1645920"/>
            <a:ext cx="2560320" cy="2560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58200" y="43434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10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