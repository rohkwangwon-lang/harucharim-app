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jpg"/><Relationship Id="rId4" Type="http://schemas.openxmlformats.org/officeDocument/2006/relationships/image" Target="../media/image4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15974" cy="45720"/>
          </a:xfrm>
          <a:prstGeom prst="rect">
            <a:avLst/>
          </a:prstGeom>
          <a:solidFill>
            <a:srgbClr val="4B69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61320" y="2743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7A7566"/>
                </a:solidFill>
                <a:latin typeface="Apple SD Gothic Neo"/>
                <a:ea typeface="Apple SD Gothic Neo"/>
                <a:cs typeface="Apple SD Gothic Neo"/>
              </a:rPr>
              <a:t>01 /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4B6936"/>
                </a:solidFill>
                <a:latin typeface="Apple SD Gothic Neo"/>
                <a:ea typeface="Apple SD Gothic Neo"/>
                <a:cs typeface="Apple SD Gothic Neo"/>
              </a:rPr>
              <a:t>발표 자료 · 2026년 9월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83080"/>
            <a:ext cx="713232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600" b="1">
                <a:solidFill>
                  <a:srgbClr val="324326"/>
                </a:solidFill>
                <a:latin typeface="Apple SD Gothic Neo"/>
                <a:ea typeface="Apple SD Gothic Neo"/>
                <a:cs typeface="Apple SD Gothic Neo"/>
              </a:rPr>
              <a:t>하루차림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429000"/>
            <a:ext cx="68580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>
                <a:solidFill>
                  <a:srgbClr val="282621"/>
                </a:solidFill>
                <a:latin typeface="Apple SD Gothic Neo"/>
                <a:ea typeface="Apple SD Gothic Neo"/>
                <a:cs typeface="Apple SD Gothic Neo"/>
              </a:rPr>
              <a:t>암 환자의 하루 한 상을,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>
                <a:solidFill>
                  <a:srgbClr val="282621"/>
                </a:solidFill>
                <a:latin typeface="Apple SD Gothic Neo"/>
                <a:ea typeface="Apple SD Gothic Neo"/>
                <a:cs typeface="Apple SD Gothic Neo"/>
              </a:rPr>
              <a:t>근거로 차립니다.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75488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>
                <a:solidFill>
                  <a:srgbClr val="7A7566"/>
                </a:solidFill>
                <a:latin typeface="Apple SD Gothic Neo"/>
                <a:ea typeface="Apple SD Gothic Neo"/>
                <a:cs typeface="Apple SD Gothic Neo"/>
              </a:rPr>
              <a:t>harucharim.com  ·  방사선종양학과 전문의 감수</a:t>
            </a:r>
          </a:p>
        </p:txBody>
      </p:sp>
      <p:pic>
        <p:nvPicPr>
          <p:cNvPr id="8" name="Picture 7" descr="icon-5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0" y="1600200"/>
            <a:ext cx="3108960" cy="31089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31520" y="6327648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7A7566"/>
                </a:solidFill>
                <a:latin typeface="Apple SD Gothic Neo"/>
                <a:ea typeface="Apple SD Gothic Neo"/>
                <a:cs typeface="Apple SD Gothic Neo"/>
              </a:rPr>
              <a:t>슬라이드 쇼에서 클릭하거나 → 키로 넘깁니다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</p:bld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31949" cy="45720"/>
          </a:xfrm>
          <a:prstGeom prst="rect">
            <a:avLst/>
          </a:prstGeom>
          <a:solidFill>
            <a:srgbClr val="4B69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61320" y="2743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7A7566"/>
                </a:solidFill>
                <a:latin typeface="Apple SD Gothic Neo"/>
                <a:ea typeface="Apple SD Gothic Neo"/>
                <a:cs typeface="Apple SD Gothic Neo"/>
              </a:rPr>
              <a:t>02 /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4B6936"/>
                </a:solidFill>
                <a:latin typeface="Apple SD Gothic Neo"/>
                <a:ea typeface="Apple SD Gothic Neo"/>
                <a:cs typeface="Apple SD Gothic Neo"/>
              </a:rPr>
              <a:t>진료실에서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00200"/>
            <a:ext cx="1069848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5800" b="1">
                <a:solidFill>
                  <a:srgbClr val="324326"/>
                </a:solidFill>
                <a:latin typeface="Apple SD Gothic Neo"/>
                <a:ea typeface="Apple SD Gothic Neo"/>
                <a:cs typeface="Apple SD Gothic Neo"/>
              </a:rPr>
              <a:t>“선생님, 뭘 먹어야 하나요?”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520440"/>
            <a:ext cx="969264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2000" b="0">
                <a:solidFill>
                  <a:srgbClr val="48453C"/>
                </a:solidFill>
                <a:latin typeface="Apple SD Gothic Neo"/>
                <a:ea typeface="Apple SD Gothic Neo"/>
                <a:cs typeface="Apple SD Gothic Neo"/>
              </a:rPr>
              <a:t>가장 자주 나오는 질문입니다. 그런데 답을 정리해 드릴 시간은 가장 적습니다.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2000" b="0">
                <a:solidFill>
                  <a:srgbClr val="48453C"/>
                </a:solidFill>
                <a:latin typeface="Apple SD Gothic Neo"/>
                <a:ea typeface="Apple SD Gothic Neo"/>
                <a:cs typeface="Apple SD Gothic Neo"/>
              </a:rPr>
              <a:t>하루차림은 그 빈자리를 </a:t>
            </a:r>
            <a:r>
              <a:rPr sz="2000" b="1">
                <a:solidFill>
                  <a:srgbClr val="324326"/>
                </a:solidFill>
                <a:latin typeface="Apple SD Gothic Neo"/>
                <a:ea typeface="Apple SD Gothic Neo"/>
                <a:cs typeface="Apple SD Gothic Neo"/>
              </a:rPr>
              <a:t>근거</a:t>
            </a:r>
            <a:r>
              <a:rPr sz="2000" b="0">
                <a:solidFill>
                  <a:srgbClr val="48453C"/>
                </a:solidFill>
                <a:latin typeface="Apple SD Gothic Neo"/>
                <a:ea typeface="Apple SD Gothic Neo"/>
                <a:cs typeface="Apple SD Gothic Neo"/>
              </a:rPr>
              <a:t>로 채우려고 만든 앱입니다 — 지금 이 사람의 암종·치료 시기·증상·드시는 약에 맞춰서.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6236208"/>
            <a:ext cx="10725912" cy="10972"/>
          </a:xfrm>
          <a:prstGeom prst="rect">
            <a:avLst/>
          </a:prstGeom>
          <a:solidFill>
            <a:srgbClr val="E2DF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327648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1">
                <a:solidFill>
                  <a:srgbClr val="4B6936"/>
                </a:solidFill>
                <a:latin typeface="Apple SD Gothic Neo"/>
                <a:ea typeface="Apple SD Gothic Neo"/>
                <a:cs typeface="Apple SD Gothic Neo"/>
              </a:rPr>
              <a:t>하루차림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60320" y="6327648"/>
            <a:ext cx="88971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7A7566"/>
                </a:solidFill>
                <a:latin typeface="Apple SD Gothic Neo"/>
                <a:ea typeface="Apple SD Gothic Neo"/>
                <a:cs typeface="Apple SD Gothic Neo"/>
              </a:rPr>
              <a:t>암종 10 · 증상과 상태 17 · 약제 18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</p:bld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047923" cy="45720"/>
          </a:xfrm>
          <a:prstGeom prst="rect">
            <a:avLst/>
          </a:prstGeom>
          <a:solidFill>
            <a:srgbClr val="4B69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61320" y="2743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7A7566"/>
                </a:solidFill>
                <a:latin typeface="Apple SD Gothic Neo"/>
                <a:ea typeface="Apple SD Gothic Neo"/>
                <a:cs typeface="Apple SD Gothic Neo"/>
              </a:rPr>
              <a:t>03 /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4B6936"/>
                </a:solidFill>
                <a:latin typeface="Apple SD Gothic Neo"/>
                <a:ea typeface="Apple SD Gothic Neo"/>
                <a:cs typeface="Apple SD Gothic Neo"/>
              </a:rPr>
              <a:t>하나 · 수록 데이터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43000"/>
            <a:ext cx="585216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400" b="1">
                <a:solidFill>
                  <a:srgbClr val="324326"/>
                </a:solidFill>
                <a:latin typeface="Apple SD Gothic Neo"/>
                <a:ea typeface="Apple SD Gothic Neo"/>
                <a:cs typeface="Apple SD Gothic Neo"/>
              </a:rPr>
              <a:t>291,378</a:t>
            </a:r>
            <a:r>
              <a:rPr sz="2600" b="1">
                <a:solidFill>
                  <a:srgbClr val="48453C"/>
                </a:solidFill>
                <a:latin typeface="Apple SD Gothic Neo"/>
                <a:ea typeface="Apple SD Gothic Neo"/>
                <a:cs typeface="Apple SD Gothic Neo"/>
              </a:rPr>
              <a:t> 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606040"/>
            <a:ext cx="5120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 b="0">
                <a:solidFill>
                  <a:srgbClr val="48453C"/>
                </a:solidFill>
                <a:latin typeface="Apple SD Gothic Neo"/>
                <a:ea typeface="Apple SD Gothic Neo"/>
                <a:cs typeface="Apple SD Gothic Neo"/>
              </a:rPr>
              <a:t>의 식품 데이터를 싣고 있습니다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0" y="1051560"/>
            <a:ext cx="5056632" cy="10972"/>
          </a:xfrm>
          <a:prstGeom prst="rect">
            <a:avLst/>
          </a:prstGeom>
          <a:solidFill>
            <a:srgbClr val="E2DF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188720"/>
            <a:ext cx="5056632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3000" b="1">
                <a:solidFill>
                  <a:srgbClr val="324326"/>
                </a:solidFill>
                <a:latin typeface="Apple SD Gothic Neo"/>
                <a:ea typeface="Apple SD Gothic Neo"/>
                <a:cs typeface="Apple SD Gothic Neo"/>
              </a:rPr>
              <a:t>18,298</a:t>
            </a:r>
            <a:r>
              <a:rPr sz="1300" b="0">
                <a:solidFill>
                  <a:srgbClr val="48453C"/>
                </a:solidFill>
                <a:latin typeface="Apple SD Gothic Neo"/>
                <a:ea typeface="Apple SD Gothic Neo"/>
                <a:cs typeface="Apple SD Gothic Neo"/>
              </a:rPr>
              <a:t> 종   </a:t>
            </a:r>
            <a:r>
              <a:rPr sz="1500" b="1">
                <a:solidFill>
                  <a:srgbClr val="282621"/>
                </a:solidFill>
                <a:latin typeface="Apple SD Gothic Neo"/>
                <a:ea typeface="Apple SD Gothic Neo"/>
                <a:cs typeface="Apple SD Gothic Neo"/>
              </a:rPr>
              <a:t>기본 식품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0">
                <a:solidFill>
                  <a:srgbClr val="7A7566"/>
                </a:solidFill>
                <a:latin typeface="Apple SD Gothic Neo"/>
                <a:ea typeface="Apple SD Gothic Neo"/>
                <a:cs typeface="Apple SD Gothic Neo"/>
              </a:rPr>
              <a:t>식약처 식품영양성분 DB · 손으로 다듬은 한식 542종 포함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0" y="2103120"/>
            <a:ext cx="5056632" cy="10972"/>
          </a:xfrm>
          <a:prstGeom prst="rect">
            <a:avLst/>
          </a:prstGeom>
          <a:solidFill>
            <a:srgbClr val="E2DF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2176272"/>
            <a:ext cx="5056632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3000" b="1">
                <a:solidFill>
                  <a:srgbClr val="324326"/>
                </a:solidFill>
                <a:latin typeface="Apple SD Gothic Neo"/>
                <a:ea typeface="Apple SD Gothic Neo"/>
                <a:cs typeface="Apple SD Gothic Neo"/>
              </a:rPr>
              <a:t>273,080</a:t>
            </a:r>
            <a:r>
              <a:rPr sz="1300" b="0">
                <a:solidFill>
                  <a:srgbClr val="48453C"/>
                </a:solidFill>
                <a:latin typeface="Apple SD Gothic Neo"/>
                <a:ea typeface="Apple SD Gothic Neo"/>
                <a:cs typeface="Apple SD Gothic Neo"/>
              </a:rPr>
              <a:t> 종   </a:t>
            </a:r>
            <a:r>
              <a:rPr sz="1500" b="1">
                <a:solidFill>
                  <a:srgbClr val="282621"/>
                </a:solidFill>
                <a:latin typeface="Apple SD Gothic Neo"/>
                <a:ea typeface="Apple SD Gothic Neo"/>
                <a:cs typeface="Apple SD Gothic Neo"/>
              </a:rPr>
              <a:t>가공식품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0">
                <a:solidFill>
                  <a:srgbClr val="7A7566"/>
                </a:solidFill>
                <a:latin typeface="Apple SD Gothic Neo"/>
                <a:ea typeface="Apple SD Gothic Neo"/>
                <a:cs typeface="Apple SD Gothic Neo"/>
              </a:rPr>
              <a:t>제조사·품목보고번호가 있는 시판 제품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0" y="3090672"/>
            <a:ext cx="5056632" cy="10972"/>
          </a:xfrm>
          <a:prstGeom prst="rect">
            <a:avLst/>
          </a:prstGeom>
          <a:solidFill>
            <a:srgbClr val="E2DF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3163824"/>
            <a:ext cx="5056632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3000" b="1">
                <a:solidFill>
                  <a:srgbClr val="324326"/>
                </a:solidFill>
                <a:latin typeface="Apple SD Gothic Neo"/>
                <a:ea typeface="Apple SD Gothic Neo"/>
                <a:cs typeface="Apple SD Gothic Neo"/>
              </a:rPr>
              <a:t>230,027</a:t>
            </a:r>
            <a:r>
              <a:rPr sz="1300" b="0">
                <a:solidFill>
                  <a:srgbClr val="48453C"/>
                </a:solidFill>
                <a:latin typeface="Apple SD Gothic Neo"/>
                <a:ea typeface="Apple SD Gothic Neo"/>
                <a:cs typeface="Apple SD Gothic Neo"/>
              </a:rPr>
              <a:t> 개   </a:t>
            </a:r>
            <a:r>
              <a:rPr sz="1500" b="1">
                <a:solidFill>
                  <a:srgbClr val="282621"/>
                </a:solidFill>
                <a:latin typeface="Apple SD Gothic Neo"/>
                <a:ea typeface="Apple SD Gothic Neo"/>
                <a:cs typeface="Apple SD Gothic Neo"/>
              </a:rPr>
              <a:t>바코드  </a:t>
            </a:r>
            <a:r>
              <a:rPr sz="1100" b="1">
                <a:solidFill>
                  <a:srgbClr val="A5682F"/>
                </a:solidFill>
                <a:latin typeface="Apple SD Gothic Neo"/>
                <a:ea typeface="Apple SD Gothic Neo"/>
                <a:cs typeface="Apple SD Gothic Neo"/>
              </a:rPr>
              <a:t>베타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0">
                <a:solidFill>
                  <a:srgbClr val="7A7566"/>
                </a:solidFill>
                <a:latin typeface="Apple SD Gothic Neo"/>
                <a:ea typeface="Apple SD Gothic Neo"/>
                <a:cs typeface="Apple SD Gothic Neo"/>
              </a:rPr>
              <a:t>제품명은 대부분 확인되지만, 영양성분까지 나오는 것은 약 30%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0" y="4078224"/>
            <a:ext cx="5056632" cy="10972"/>
          </a:xfrm>
          <a:prstGeom prst="rect">
            <a:avLst/>
          </a:prstGeom>
          <a:solidFill>
            <a:srgbClr val="E2DF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4151376"/>
            <a:ext cx="5056632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3000" b="1">
                <a:solidFill>
                  <a:srgbClr val="324326"/>
                </a:solidFill>
                <a:latin typeface="Apple SD Gothic Neo"/>
                <a:ea typeface="Apple SD Gothic Neo"/>
                <a:cs typeface="Apple SD Gothic Neo"/>
              </a:rPr>
              <a:t>45,618</a:t>
            </a:r>
            <a:r>
              <a:rPr sz="1300" b="0">
                <a:solidFill>
                  <a:srgbClr val="48453C"/>
                </a:solidFill>
                <a:latin typeface="Apple SD Gothic Neo"/>
                <a:ea typeface="Apple SD Gothic Neo"/>
                <a:cs typeface="Apple SD Gothic Neo"/>
              </a:rPr>
              <a:t> 종   </a:t>
            </a:r>
            <a:r>
              <a:rPr sz="1500" b="1">
                <a:solidFill>
                  <a:srgbClr val="282621"/>
                </a:solidFill>
                <a:latin typeface="Apple SD Gothic Neo"/>
                <a:ea typeface="Apple SD Gothic Neo"/>
                <a:cs typeface="Apple SD Gothic Neo"/>
              </a:rPr>
              <a:t>시판 영양제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0">
                <a:solidFill>
                  <a:srgbClr val="7A7566"/>
                </a:solidFill>
                <a:latin typeface="Apple SD Gothic Neo"/>
                <a:ea typeface="Apple SD Gothic Neo"/>
                <a:cs typeface="Apple SD Gothic Neo"/>
              </a:rPr>
              <a:t>식품과 따로 셉니다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0" y="5065776"/>
            <a:ext cx="5056632" cy="10972"/>
          </a:xfrm>
          <a:prstGeom prst="rect">
            <a:avLst/>
          </a:prstGeom>
          <a:solidFill>
            <a:srgbClr val="E2DF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5669280"/>
            <a:ext cx="1072591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7A7566"/>
                </a:solidFill>
                <a:latin typeface="Apple SD Gothic Neo"/>
                <a:ea typeface="Apple SD Gothic Neo"/>
                <a:cs typeface="Apple SD Gothic Neo"/>
              </a:rPr>
              <a:t>기본 식품과 가공식품은 출처가 다른 별개 기록입니다. 이름이 같은 1,985건(예: 현미밥)은 일반 음식과 특정 회사 제품이라 따로 셌고, 바코드와 영양제는 합계에 넣지 않았습니다.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6236208"/>
            <a:ext cx="10725912" cy="10972"/>
          </a:xfrm>
          <a:prstGeom prst="rect">
            <a:avLst/>
          </a:prstGeom>
          <a:solidFill>
            <a:srgbClr val="E2DF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6327648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1">
                <a:solidFill>
                  <a:srgbClr val="4B6936"/>
                </a:solidFill>
                <a:latin typeface="Apple SD Gothic Neo"/>
                <a:ea typeface="Apple SD Gothic Neo"/>
                <a:cs typeface="Apple SD Gothic Neo"/>
              </a:rPr>
              <a:t>하루차림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60320" y="6327648"/>
            <a:ext cx="88971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7A7566"/>
                </a:solidFill>
                <a:latin typeface="Apple SD Gothic Neo"/>
                <a:ea typeface="Apple SD Gothic Neo"/>
                <a:cs typeface="Apple SD Gothic Neo"/>
              </a:rPr>
              <a:t>앱에 18,298종 내장 · 나머지는 원하시는 분만 내려받습니다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71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87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103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6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8" grpId="0" animBg="1"/>
      <p:bldP spid="10" grpId="0" animBg="1"/>
      <p:bldP spid="12" grpId="0" animBg="1"/>
      <p:bldP spid="14" grpId="0" animBg="1"/>
      <p:bldP spid="16" grpId="0" animBg="1"/>
    </p:bld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063898" cy="45720"/>
          </a:xfrm>
          <a:prstGeom prst="rect">
            <a:avLst/>
          </a:prstGeom>
          <a:solidFill>
            <a:srgbClr val="4B69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61320" y="2743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7A7566"/>
                </a:solidFill>
                <a:latin typeface="Apple SD Gothic Neo"/>
                <a:ea typeface="Apple SD Gothic Neo"/>
                <a:cs typeface="Apple SD Gothic Neo"/>
              </a:rPr>
              <a:t>04 /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4B6936"/>
                </a:solidFill>
                <a:latin typeface="Apple SD Gothic Neo"/>
                <a:ea typeface="Apple SD Gothic Neo"/>
                <a:cs typeface="Apple SD Gothic Neo"/>
              </a:rPr>
              <a:t>둘 · 추천 알고리즘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73152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400" b="1">
                <a:solidFill>
                  <a:srgbClr val="324326"/>
                </a:solidFill>
                <a:latin typeface="Apple SD Gothic Neo"/>
                <a:ea typeface="Apple SD Gothic Neo"/>
                <a:cs typeface="Apple SD Gothic Neo"/>
              </a:rPr>
              <a:t>6</a:t>
            </a:r>
            <a:r>
              <a:rPr sz="2600" b="1">
                <a:solidFill>
                  <a:srgbClr val="48453C"/>
                </a:solidFill>
                <a:latin typeface="Apple SD Gothic Neo"/>
                <a:ea typeface="Apple SD Gothic Neo"/>
                <a:cs typeface="Apple SD Gothic Neo"/>
              </a:rPr>
              <a:t> 개 판단 엔진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37744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 b="0">
                <a:solidFill>
                  <a:srgbClr val="48453C"/>
                </a:solidFill>
                <a:latin typeface="Apple SD Gothic Neo"/>
                <a:ea typeface="Apple SD Gothic Neo"/>
                <a:cs typeface="Apple SD Gothic Neo"/>
              </a:rPr>
              <a:t>한 사람의 상태를 받아 한 상을 차리기까지, 각자 한 가지 일만 합니다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611880"/>
            <a:ext cx="2011680" cy="1280160"/>
          </a:xfrm>
          <a:prstGeom prst="roundRect">
            <a:avLst>
              <a:gd name="adj" fmla="val 12000"/>
            </a:avLst>
          </a:prstGeom>
          <a:noFill/>
          <a:ln w="19050">
            <a:solidFill>
              <a:srgbClr val="4B69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324326"/>
                </a:solidFill>
                <a:latin typeface="Apple SD Gothic Neo"/>
                <a:ea typeface="Apple SD Gothic Neo"/>
                <a:cs typeface="Apple SD Gothic Neo"/>
              </a:rPr>
              <a:t>환자</a:t>
            </a:r>
          </a:p>
          <a:p>
            <a:pPr algn="l">
              <a:spcAft>
                <a:spcPts val="0"/>
              </a:spcAft>
            </a:pPr>
            <a:r>
              <a:rPr sz="1000" b="0">
                <a:solidFill>
                  <a:srgbClr val="48453C"/>
                </a:solidFill>
                <a:latin typeface="Apple SD Gothic Neo"/>
                <a:ea typeface="Apple SD Gothic Neo"/>
                <a:cs typeface="Apple SD Gothic Neo"/>
              </a:rPr>
              <a:t>암종 · 치료 시기 · 증상 · 드시는 약 · 체중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834640" y="4251960"/>
            <a:ext cx="566928" cy="0"/>
          </a:xfrm>
          <a:prstGeom prst="line">
            <a:avLst/>
          </a:prstGeom>
          <a:ln w="25400">
            <a:solidFill>
              <a:srgbClr val="4B693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3520440" y="3017520"/>
            <a:ext cx="2880360" cy="731520"/>
          </a:xfrm>
          <a:prstGeom prst="roundRect">
            <a:avLst>
              <a:gd name="adj" fmla="val 14000"/>
            </a:avLst>
          </a:prstGeom>
          <a:solidFill>
            <a:srgbClr val="EEF2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>
              <a:spcAft>
                <a:spcPts val="100"/>
              </a:spcAft>
            </a:pPr>
            <a:r>
              <a:rPr sz="1500" b="1">
                <a:solidFill>
                  <a:srgbClr val="324326"/>
                </a:solidFill>
                <a:latin typeface="Apple SD Gothic Neo"/>
                <a:ea typeface="Apple SD Gothic Neo"/>
                <a:cs typeface="Apple SD Gothic Neo"/>
              </a:rPr>
              <a:t>영양 목표</a:t>
            </a:r>
          </a:p>
          <a:p>
            <a:pPr algn="l">
              <a:spcAft>
                <a:spcPts val="0"/>
              </a:spcAft>
            </a:pPr>
            <a:r>
              <a:rPr sz="1050" b="0">
                <a:solidFill>
                  <a:srgbClr val="48453C"/>
                </a:solidFill>
                <a:latin typeface="Apple SD Gothic Neo"/>
                <a:ea typeface="Apple SD Gothic Neo"/>
                <a:cs typeface="Apple SD Gothic Neo"/>
              </a:rPr>
              <a:t>ESPEN 기준 열량·단백질을 체중과 시기에 맞춤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10528" y="3017520"/>
            <a:ext cx="2880360" cy="731520"/>
          </a:xfrm>
          <a:prstGeom prst="roundRect">
            <a:avLst>
              <a:gd name="adj" fmla="val 14000"/>
            </a:avLst>
          </a:prstGeom>
          <a:solidFill>
            <a:srgbClr val="EEF2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>
              <a:spcAft>
                <a:spcPts val="100"/>
              </a:spcAft>
            </a:pPr>
            <a:r>
              <a:rPr sz="1500" b="1">
                <a:solidFill>
                  <a:srgbClr val="324326"/>
                </a:solidFill>
                <a:latin typeface="Apple SD Gothic Neo"/>
                <a:ea typeface="Apple SD Gothic Neo"/>
                <a:cs typeface="Apple SD Gothic Neo"/>
              </a:rPr>
              <a:t>음식 판정</a:t>
            </a:r>
          </a:p>
          <a:p>
            <a:pPr algn="l">
              <a:spcAft>
                <a:spcPts val="0"/>
              </a:spcAft>
            </a:pPr>
            <a:r>
              <a:rPr sz="1050" b="0">
                <a:solidFill>
                  <a:srgbClr val="48453C"/>
                </a:solidFill>
                <a:latin typeface="Apple SD Gothic Neo"/>
                <a:ea typeface="Apple SD Gothic Neo"/>
                <a:cs typeface="Apple SD Gothic Neo"/>
              </a:rPr>
              <a:t>권장·주의·피하세요, 약과의 상호작용까지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20440" y="3840480"/>
            <a:ext cx="2880360" cy="731520"/>
          </a:xfrm>
          <a:prstGeom prst="roundRect">
            <a:avLst>
              <a:gd name="adj" fmla="val 14000"/>
            </a:avLst>
          </a:prstGeom>
          <a:solidFill>
            <a:srgbClr val="EEF2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>
              <a:spcAft>
                <a:spcPts val="100"/>
              </a:spcAft>
            </a:pPr>
            <a:r>
              <a:rPr sz="1500" b="1">
                <a:solidFill>
                  <a:srgbClr val="324326"/>
                </a:solidFill>
                <a:latin typeface="Apple SD Gothic Neo"/>
                <a:ea typeface="Apple SD Gothic Neo"/>
                <a:cs typeface="Apple SD Gothic Neo"/>
              </a:rPr>
              <a:t>식단 구성</a:t>
            </a:r>
          </a:p>
          <a:p>
            <a:pPr algn="l">
              <a:spcAft>
                <a:spcPts val="0"/>
              </a:spcAft>
            </a:pPr>
            <a:r>
              <a:rPr sz="1050" b="0">
                <a:solidFill>
                  <a:srgbClr val="48453C"/>
                </a:solidFill>
                <a:latin typeface="Apple SD Gothic Neo"/>
                <a:ea typeface="Apple SD Gothic Neo"/>
                <a:cs typeface="Apple SD Gothic Neo"/>
              </a:rPr>
              <a:t>밥 + 반찬 두셋 + 국, 한 상의 꼴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10528" y="3840480"/>
            <a:ext cx="2880360" cy="731520"/>
          </a:xfrm>
          <a:prstGeom prst="roundRect">
            <a:avLst>
              <a:gd name="adj" fmla="val 14000"/>
            </a:avLst>
          </a:prstGeom>
          <a:solidFill>
            <a:srgbClr val="EEF2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>
              <a:spcAft>
                <a:spcPts val="100"/>
              </a:spcAft>
            </a:pPr>
            <a:r>
              <a:rPr sz="1500" b="1">
                <a:solidFill>
                  <a:srgbClr val="324326"/>
                </a:solidFill>
                <a:latin typeface="Apple SD Gothic Neo"/>
                <a:ea typeface="Apple SD Gothic Neo"/>
                <a:cs typeface="Apple SD Gothic Neo"/>
              </a:rPr>
              <a:t>성분 판정</a:t>
            </a:r>
          </a:p>
          <a:p>
            <a:pPr algn="l">
              <a:spcAft>
                <a:spcPts val="0"/>
              </a:spcAft>
            </a:pPr>
            <a:r>
              <a:rPr sz="1050" b="0">
                <a:solidFill>
                  <a:srgbClr val="48453C"/>
                </a:solidFill>
                <a:latin typeface="Apple SD Gothic Neo"/>
                <a:ea typeface="Apple SD Gothic Neo"/>
                <a:cs typeface="Apple SD Gothic Neo"/>
              </a:rPr>
              <a:t>영양제에 든 성분을 하나씩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520440" y="4663440"/>
            <a:ext cx="2880360" cy="731520"/>
          </a:xfrm>
          <a:prstGeom prst="roundRect">
            <a:avLst>
              <a:gd name="adj" fmla="val 14000"/>
            </a:avLst>
          </a:prstGeom>
          <a:solidFill>
            <a:srgbClr val="EEF2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>
              <a:spcAft>
                <a:spcPts val="100"/>
              </a:spcAft>
            </a:pPr>
            <a:r>
              <a:rPr sz="1500" b="1">
                <a:solidFill>
                  <a:srgbClr val="324326"/>
                </a:solidFill>
                <a:latin typeface="Apple SD Gothic Neo"/>
                <a:ea typeface="Apple SD Gothic Neo"/>
                <a:cs typeface="Apple SD Gothic Neo"/>
              </a:rPr>
              <a:t>영양제 조언</a:t>
            </a:r>
          </a:p>
          <a:p>
            <a:pPr algn="l">
              <a:spcAft>
                <a:spcPts val="0"/>
              </a:spcAft>
            </a:pPr>
            <a:r>
              <a:rPr sz="1050" b="0">
                <a:solidFill>
                  <a:srgbClr val="48453C"/>
                </a:solidFill>
                <a:latin typeface="Apple SD Gothic Neo"/>
                <a:ea typeface="Apple SD Gothic Neo"/>
                <a:cs typeface="Apple SD Gothic Neo"/>
              </a:rPr>
              <a:t>근거가 있는 것과 없는 것을 나눔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10528" y="4663440"/>
            <a:ext cx="2880360" cy="731520"/>
          </a:xfrm>
          <a:prstGeom prst="roundRect">
            <a:avLst>
              <a:gd name="adj" fmla="val 14000"/>
            </a:avLst>
          </a:prstGeom>
          <a:solidFill>
            <a:srgbClr val="EEF2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>
              <a:spcAft>
                <a:spcPts val="100"/>
              </a:spcAft>
            </a:pPr>
            <a:r>
              <a:rPr sz="1500" b="1">
                <a:solidFill>
                  <a:srgbClr val="324326"/>
                </a:solidFill>
                <a:latin typeface="Apple SD Gothic Neo"/>
                <a:ea typeface="Apple SD Gothic Neo"/>
                <a:cs typeface="Apple SD Gothic Neo"/>
              </a:rPr>
              <a:t>하루·주·월 평가</a:t>
            </a:r>
          </a:p>
          <a:p>
            <a:pPr algn="l">
              <a:spcAft>
                <a:spcPts val="0"/>
              </a:spcAft>
            </a:pPr>
            <a:r>
              <a:rPr sz="1050" b="0">
                <a:solidFill>
                  <a:srgbClr val="48453C"/>
                </a:solidFill>
                <a:latin typeface="Apple SD Gothic Neo"/>
                <a:ea typeface="Apple SD Gothic Neo"/>
                <a:cs typeface="Apple SD Gothic Neo"/>
              </a:rPr>
              <a:t>모자란 것과 넘치는 것을 짚음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9509760" y="4251960"/>
            <a:ext cx="548640" cy="0"/>
          </a:xfrm>
          <a:prstGeom prst="line">
            <a:avLst/>
          </a:prstGeom>
          <a:ln w="25400">
            <a:solidFill>
              <a:srgbClr val="4B693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10149840" y="3611880"/>
            <a:ext cx="1307592" cy="1280160"/>
          </a:xfrm>
          <a:prstGeom prst="roundRect">
            <a:avLst>
              <a:gd name="adj" fmla="val 12000"/>
            </a:avLst>
          </a:prstGeom>
          <a:solidFill>
            <a:srgbClr val="4B69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오늘의</a:t>
            </a:r>
          </a:p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한 상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6236208"/>
            <a:ext cx="10725912" cy="10972"/>
          </a:xfrm>
          <a:prstGeom prst="rect">
            <a:avLst/>
          </a:prstGeom>
          <a:solidFill>
            <a:srgbClr val="E2DF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6327648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1">
                <a:solidFill>
                  <a:srgbClr val="4B6936"/>
                </a:solidFill>
                <a:latin typeface="Apple SD Gothic Neo"/>
                <a:ea typeface="Apple SD Gothic Neo"/>
                <a:cs typeface="Apple SD Gothic Neo"/>
              </a:rPr>
              <a:t>하루차림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60320" y="6327648"/>
            <a:ext cx="88971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7A7566"/>
                </a:solidFill>
                <a:latin typeface="Apple SD Gothic Neo"/>
                <a:ea typeface="Apple SD Gothic Neo"/>
                <a:cs typeface="Apple SD Gothic Neo"/>
              </a:rPr>
              <a:t>src/engine — menu · rules · nutrition · ingredientVerdict · supplementAdvice · dayScore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9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8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98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111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124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137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8" fill="hold" grpId="0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9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19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6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079873" cy="45720"/>
          </a:xfrm>
          <a:prstGeom prst="rect">
            <a:avLst/>
          </a:prstGeom>
          <a:solidFill>
            <a:srgbClr val="4B69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61320" y="2743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7A7566"/>
                </a:solidFill>
                <a:latin typeface="Apple SD Gothic Neo"/>
                <a:ea typeface="Apple SD Gothic Neo"/>
                <a:cs typeface="Apple SD Gothic Neo"/>
              </a:rPr>
              <a:t>05 /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4B6936"/>
                </a:solidFill>
                <a:latin typeface="Apple SD Gothic Neo"/>
                <a:ea typeface="Apple SD Gothic Neo"/>
                <a:cs typeface="Apple SD Gothic Neo"/>
              </a:rPr>
              <a:t>셋 · 임상 규칙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530352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400" b="1">
                <a:solidFill>
                  <a:srgbClr val="324326"/>
                </a:solidFill>
                <a:latin typeface="Apple SD Gothic Neo"/>
                <a:ea typeface="Apple SD Gothic Neo"/>
                <a:cs typeface="Apple SD Gothic Neo"/>
              </a:rPr>
              <a:t>158 개</a:t>
            </a:r>
            <a:r>
              <a:rPr sz="2600" b="1">
                <a:solidFill>
                  <a:srgbClr val="48453C"/>
                </a:solidFill>
                <a:latin typeface="Apple SD Gothic Neo"/>
                <a:ea typeface="Apple SD Gothic Neo"/>
                <a:cs typeface="Apple SD Gothic Neo"/>
              </a:rPr>
              <a:t/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423160"/>
            <a:ext cx="5303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900" b="0">
                <a:solidFill>
                  <a:srgbClr val="48453C"/>
                </a:solidFill>
                <a:latin typeface="Apple SD Gothic Neo"/>
                <a:ea typeface="Apple SD Gothic Neo"/>
                <a:cs typeface="Apple SD Gothic Neo"/>
              </a:rPr>
              <a:t>영양 규칙 130개 + 약물·음식 상호작용 28개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154680"/>
            <a:ext cx="530352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2200" b="1">
                <a:solidFill>
                  <a:srgbClr val="324326"/>
                </a:solidFill>
                <a:latin typeface="Apple SD Gothic Neo"/>
                <a:ea typeface="Apple SD Gothic Neo"/>
                <a:cs typeface="Apple SD Gothic Neo"/>
              </a:rPr>
              <a:t>172종 참고 문헌 — 전부 원문과 대조</a:t>
            </a:r>
            <a:r>
              <a:rPr sz="1500" b="0">
                <a:solidFill>
                  <a:srgbClr val="48453C"/>
                </a:solidFill>
                <a:latin typeface="Apple SD Gothic Neo"/>
                <a:ea typeface="Apple SD Gothic Neo"/>
                <a:cs typeface="Apple SD Gothic Neo"/>
              </a:rPr>
              <a:t/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>
                <a:solidFill>
                  <a:srgbClr val="324326"/>
                </a:solidFill>
                <a:latin typeface="Apple SD Gothic Neo"/>
                <a:ea typeface="Apple SD Gothic Neo"/>
                <a:cs typeface="Apple SD Gothic Neo"/>
              </a:rPr>
              <a:t>36개 영양제 성분 규칙</a:t>
            </a:r>
            <a:r>
              <a:rPr sz="1500" b="0">
                <a:solidFill>
                  <a:srgbClr val="48453C"/>
                </a:solidFill>
                <a:latin typeface="Apple SD Gothic Neo"/>
                <a:ea typeface="Apple SD Gothic Neo"/>
                <a:cs typeface="Apple SD Gothic Neo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109728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282621"/>
                </a:solidFill>
                <a:latin typeface="Apple SD Gothic Neo"/>
                <a:ea typeface="Apple SD Gothic Neo"/>
                <a:cs typeface="Apple SD Gothic Neo"/>
              </a:rPr>
              <a:t>영양 규칙 130개의 근거 등급 — 화면에 그대로 붙습니다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691640"/>
            <a:ext cx="475488" cy="475488"/>
          </a:xfrm>
          <a:prstGeom prst="roundRect">
            <a:avLst>
              <a:gd name="adj" fmla="val 20000"/>
            </a:avLst>
          </a:prstGeom>
          <a:solidFill>
            <a:srgbClr val="3243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931152" y="1847088"/>
            <a:ext cx="2468880" cy="164592"/>
          </a:xfrm>
          <a:prstGeom prst="roundRect">
            <a:avLst>
              <a:gd name="adj" fmla="val 50000"/>
            </a:avLst>
          </a:prstGeom>
          <a:solidFill>
            <a:srgbClr val="E2DF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931152" y="1847088"/>
            <a:ext cx="669526" cy="164592"/>
          </a:xfrm>
          <a:prstGeom prst="roundRect">
            <a:avLst>
              <a:gd name="adj" fmla="val 50000"/>
            </a:avLst>
          </a:prstGeom>
          <a:solidFill>
            <a:srgbClr val="3243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464040" y="1709928"/>
            <a:ext cx="548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2000" b="1">
                <a:solidFill>
                  <a:srgbClr val="282621"/>
                </a:solidFill>
                <a:latin typeface="Apple SD Gothic Neo"/>
                <a:ea typeface="Apple SD Gothic Neo"/>
                <a:cs typeface="Apple SD Gothic Neo"/>
              </a:rPr>
              <a:t>10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49840" y="1783080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48453C"/>
                </a:solidFill>
                <a:latin typeface="Apple SD Gothic Neo"/>
                <a:ea typeface="Apple SD Gothic Neo"/>
                <a:cs typeface="Apple SD Gothic Neo"/>
              </a:rPr>
              <a:t>무작위 임상시험 · 메타분석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2404872"/>
            <a:ext cx="475488" cy="475488"/>
          </a:xfrm>
          <a:prstGeom prst="roundRect">
            <a:avLst>
              <a:gd name="adj" fmla="val 20000"/>
            </a:avLst>
          </a:prstGeom>
          <a:solidFill>
            <a:srgbClr val="4B69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B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931152" y="2560320"/>
            <a:ext cx="2468880" cy="164592"/>
          </a:xfrm>
          <a:prstGeom prst="roundRect">
            <a:avLst>
              <a:gd name="adj" fmla="val 50000"/>
            </a:avLst>
          </a:prstGeom>
          <a:solidFill>
            <a:srgbClr val="E2DF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931152" y="2560320"/>
            <a:ext cx="1046135" cy="164592"/>
          </a:xfrm>
          <a:prstGeom prst="roundRect">
            <a:avLst>
              <a:gd name="adj" fmla="val 50000"/>
            </a:avLst>
          </a:prstGeom>
          <a:solidFill>
            <a:srgbClr val="4B69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464040" y="2423160"/>
            <a:ext cx="548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2000" b="1">
                <a:solidFill>
                  <a:srgbClr val="282621"/>
                </a:solidFill>
                <a:latin typeface="Apple SD Gothic Neo"/>
                <a:ea typeface="Apple SD Gothic Neo"/>
                <a:cs typeface="Apple SD Gothic Neo"/>
              </a:rPr>
              <a:t>15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149840" y="2496312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48453C"/>
                </a:solidFill>
                <a:latin typeface="Apple SD Gothic Neo"/>
                <a:ea typeface="Apple SD Gothic Neo"/>
                <a:cs typeface="Apple SD Gothic Neo"/>
              </a:rPr>
              <a:t>대규모 전향 코호트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09360" y="3118104"/>
            <a:ext cx="475488" cy="475488"/>
          </a:xfrm>
          <a:prstGeom prst="roundRect">
            <a:avLst>
              <a:gd name="adj" fmla="val 20000"/>
            </a:avLst>
          </a:prstGeom>
          <a:solidFill>
            <a:srgbClr val="CCD9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324326"/>
                </a:solidFill>
                <a:latin typeface="Apple SD Gothic Neo"/>
                <a:ea typeface="Apple SD Gothic Neo"/>
                <a:cs typeface="Apple SD Gothic Neo"/>
              </a:rPr>
              <a:t>C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931152" y="3273552"/>
            <a:ext cx="2468880" cy="164592"/>
          </a:xfrm>
          <a:prstGeom prst="roundRect">
            <a:avLst>
              <a:gd name="adj" fmla="val 50000"/>
            </a:avLst>
          </a:prstGeom>
          <a:solidFill>
            <a:srgbClr val="E2DF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931152" y="3273552"/>
            <a:ext cx="962444" cy="164592"/>
          </a:xfrm>
          <a:prstGeom prst="roundRect">
            <a:avLst>
              <a:gd name="adj" fmla="val 50000"/>
            </a:avLst>
          </a:prstGeom>
          <a:solidFill>
            <a:srgbClr val="CCD9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464040" y="3136392"/>
            <a:ext cx="548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2000" b="1">
                <a:solidFill>
                  <a:srgbClr val="282621"/>
                </a:solidFill>
                <a:latin typeface="Apple SD Gothic Neo"/>
                <a:ea typeface="Apple SD Gothic Neo"/>
                <a:cs typeface="Apple SD Gothic Neo"/>
              </a:rPr>
              <a:t>40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149840" y="3209544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48453C"/>
                </a:solidFill>
                <a:latin typeface="Apple SD Gothic Neo"/>
                <a:ea typeface="Apple SD Gothic Neo"/>
                <a:cs typeface="Apple SD Gothic Neo"/>
              </a:rPr>
              <a:t>소규모 · 후향 · 기전 연구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309360" y="3831335"/>
            <a:ext cx="475488" cy="475488"/>
          </a:xfrm>
          <a:prstGeom prst="roundRect">
            <a:avLst>
              <a:gd name="adj" fmla="val 20000"/>
            </a:avLst>
          </a:prstGeom>
          <a:solidFill>
            <a:srgbClr val="A56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G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931152" y="3986783"/>
            <a:ext cx="2468880" cy="164592"/>
          </a:xfrm>
          <a:prstGeom prst="roundRect">
            <a:avLst>
              <a:gd name="adj" fmla="val 50000"/>
            </a:avLst>
          </a:prstGeom>
          <a:solidFill>
            <a:srgbClr val="E2DF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931152" y="3986783"/>
            <a:ext cx="2468880" cy="164592"/>
          </a:xfrm>
          <a:prstGeom prst="roundRect">
            <a:avLst>
              <a:gd name="adj" fmla="val 50000"/>
            </a:avLst>
          </a:prstGeom>
          <a:solidFill>
            <a:srgbClr val="A56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464040" y="3849623"/>
            <a:ext cx="548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2000" b="1">
                <a:solidFill>
                  <a:srgbClr val="282621"/>
                </a:solidFill>
                <a:latin typeface="Apple SD Gothic Neo"/>
                <a:ea typeface="Apple SD Gothic Neo"/>
                <a:cs typeface="Apple SD Gothic Neo"/>
              </a:rPr>
              <a:t>65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149840" y="3922775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48453C"/>
                </a:solidFill>
                <a:latin typeface="Apple SD Gothic Neo"/>
                <a:ea typeface="Apple SD Gothic Neo"/>
                <a:cs typeface="Apple SD Gothic Neo"/>
              </a:rPr>
              <a:t>주요 학회 지침의 합의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09360" y="4617720"/>
            <a:ext cx="53949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100" b="0">
                <a:solidFill>
                  <a:srgbClr val="7A7566"/>
                </a:solidFill>
                <a:latin typeface="Apple SD Gothic Neo"/>
                <a:ea typeface="Apple SD Gothic Neo"/>
                <a:cs typeface="Apple SD Gothic Neo"/>
              </a:rPr>
              <a:t>G 가 가장 많은 것은 숨길 일이 아닙니다. 식이 영역은 무작위 시험이 드물고, 학회 지침이 그 자리를 메웁니다. 등급을 부풀리지 않고 그대로 보여 드립니다.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31520" y="6236208"/>
            <a:ext cx="10725912" cy="10972"/>
          </a:xfrm>
          <a:prstGeom prst="rect">
            <a:avLst/>
          </a:prstGeom>
          <a:solidFill>
            <a:srgbClr val="E2DF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20" y="6327648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1">
                <a:solidFill>
                  <a:srgbClr val="4B6936"/>
                </a:solidFill>
                <a:latin typeface="Apple SD Gothic Neo"/>
                <a:ea typeface="Apple SD Gothic Neo"/>
                <a:cs typeface="Apple SD Gothic Neo"/>
              </a:rPr>
              <a:t>하루차림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560320" y="6327648"/>
            <a:ext cx="88971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7A7566"/>
                </a:solidFill>
                <a:latin typeface="Apple SD Gothic Neo"/>
                <a:ea typeface="Apple SD Gothic Neo"/>
                <a:cs typeface="Apple SD Gothic Neo"/>
              </a:rPr>
              <a:t>ESPEN · ASCO · ACS · MASCC · IARC · WCRF · 한국인 영양소 섭취기준 외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9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8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9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6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6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95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6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8" fill="hold" grpId="0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9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6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6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6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2" presetClass="entr" presetSubtype="8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9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135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6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135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6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6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2" grpId="0" animBg="1"/>
      <p:bldP spid="13" grpId="0" animBg="1"/>
      <p:bldP spid="14" grpId="0" animBg="1"/>
      <p:bldP spid="17" grpId="0" animBg="1"/>
      <p:bldP spid="18" grpId="0" animBg="1"/>
      <p:bldP spid="19" grpId="0" animBg="1"/>
      <p:bldP spid="22" grpId="0" animBg="1"/>
      <p:bldP spid="23" grpId="0" animBg="1"/>
      <p:bldP spid="24" grpId="0" animBg="1"/>
      <p:bldP spid="27" grpId="0" animBg="1"/>
      <p:bldP spid="28" grpId="0" animBg="1"/>
      <p:bldP spid="29" grpId="0" animBg="1"/>
    </p:bld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095847" cy="45720"/>
          </a:xfrm>
          <a:prstGeom prst="rect">
            <a:avLst/>
          </a:prstGeom>
          <a:solidFill>
            <a:srgbClr val="4B69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61320" y="2743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7A7566"/>
                </a:solidFill>
                <a:latin typeface="Apple SD Gothic Neo"/>
                <a:ea typeface="Apple SD Gothic Neo"/>
                <a:cs typeface="Apple SD Gothic Neo"/>
              </a:rPr>
              <a:t>06 /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4B6936"/>
                </a:solidFill>
                <a:latin typeface="Apple SD Gothic Neo"/>
                <a:ea typeface="Apple SD Gothic Neo"/>
                <a:cs typeface="Apple SD Gothic Neo"/>
              </a:rPr>
              <a:t>넷 · 검증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100584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400" b="1">
                <a:solidFill>
                  <a:srgbClr val="324326"/>
                </a:solidFill>
                <a:latin typeface="Apple SD Gothic Neo"/>
                <a:ea typeface="Apple SD Gothic Neo"/>
                <a:cs typeface="Apple SD Gothic Neo"/>
              </a:rPr>
              <a:t>3,531,402</a:t>
            </a:r>
            <a:r>
              <a:rPr sz="2600" b="1">
                <a:solidFill>
                  <a:srgbClr val="48453C"/>
                </a:solidFill>
                <a:latin typeface="Apple SD Gothic Neo"/>
                <a:ea typeface="Apple SD Gothic Neo"/>
                <a:cs typeface="Apple SD Gothic Neo"/>
              </a:rPr>
              <a:t> 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37744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 b="0">
                <a:solidFill>
                  <a:srgbClr val="48453C"/>
                </a:solidFill>
                <a:latin typeface="Apple SD Gothic Neo"/>
                <a:ea typeface="Apple SD Gothic Neo"/>
                <a:cs typeface="Apple SD Gothic Neo"/>
              </a:rPr>
              <a:t>의 추천을 하나하나 검사했습니다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063240"/>
            <a:ext cx="256032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3200" b="1">
                <a:solidFill>
                  <a:srgbClr val="324326"/>
                </a:solidFill>
                <a:latin typeface="Apple SD Gothic Neo"/>
                <a:ea typeface="Apple SD Gothic Neo"/>
                <a:cs typeface="Apple SD Gothic Neo"/>
              </a:rPr>
              <a:t>3,000</a:t>
            </a:r>
            <a:r>
              <a:rPr sz="1400" b="0">
                <a:solidFill>
                  <a:srgbClr val="48453C"/>
                </a:solidFill>
                <a:latin typeface="Apple SD Gothic Neo"/>
                <a:ea typeface="Apple SD Gothic Neo"/>
                <a:cs typeface="Apple SD Gothic Neo"/>
              </a:rPr>
              <a:t> 명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>
                <a:solidFill>
                  <a:srgbClr val="7A7566"/>
                </a:solidFill>
                <a:latin typeface="Apple SD Gothic Neo"/>
                <a:ea typeface="Apple SD Gothic Neo"/>
                <a:cs typeface="Apple SD Gothic Neo"/>
              </a:rPr>
              <a:t>가상 환자 — 암종·시기·증상·약을 무작위로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86200" y="3063240"/>
            <a:ext cx="256032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3200" b="1">
                <a:solidFill>
                  <a:srgbClr val="324326"/>
                </a:solidFill>
                <a:latin typeface="Apple SD Gothic Neo"/>
                <a:ea typeface="Apple SD Gothic Neo"/>
                <a:cs typeface="Apple SD Gothic Neo"/>
              </a:rPr>
              <a:t>90</a:t>
            </a:r>
            <a:r>
              <a:rPr sz="1400" b="0">
                <a:solidFill>
                  <a:srgbClr val="48453C"/>
                </a:solidFill>
                <a:latin typeface="Apple SD Gothic Neo"/>
                <a:ea typeface="Apple SD Gothic Neo"/>
                <a:cs typeface="Apple SD Gothic Neo"/>
              </a:rPr>
              <a:t> 일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>
                <a:solidFill>
                  <a:srgbClr val="7A7566"/>
                </a:solidFill>
                <a:latin typeface="Apple SD Gothic Neo"/>
                <a:ea typeface="Apple SD Gothic Neo"/>
                <a:cs typeface="Apple SD Gothic Neo"/>
              </a:rPr>
              <a:t>한 사람이 석 달을 지나가 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3063240"/>
            <a:ext cx="256032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3200" b="1">
                <a:solidFill>
                  <a:srgbClr val="324326"/>
                </a:solidFill>
                <a:latin typeface="Apple SD Gothic Neo"/>
                <a:ea typeface="Apple SD Gothic Neo"/>
                <a:cs typeface="Apple SD Gothic Neo"/>
              </a:rPr>
              <a:t>270,000</a:t>
            </a:r>
            <a:r>
              <a:rPr sz="1400" b="0">
                <a:solidFill>
                  <a:srgbClr val="48453C"/>
                </a:solidFill>
                <a:latin typeface="Apple SD Gothic Neo"/>
                <a:ea typeface="Apple SD Gothic Neo"/>
                <a:cs typeface="Apple SD Gothic Neo"/>
              </a:rPr>
              <a:t> 일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>
                <a:solidFill>
                  <a:srgbClr val="7A7566"/>
                </a:solidFill>
                <a:latin typeface="Apple SD Gothic Neo"/>
                <a:ea typeface="Apple SD Gothic Neo"/>
                <a:cs typeface="Apple SD Gothic Neo"/>
              </a:rPr>
              <a:t>가상의 식단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46120" y="310896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2800" b="0">
                <a:solidFill>
                  <a:srgbClr val="7A7566"/>
                </a:solidFill>
                <a:latin typeface="Apple SD Gothic Neo"/>
                <a:ea typeface="Apple SD Gothic Neo"/>
                <a:cs typeface="Apple SD Gothic Neo"/>
              </a:rPr>
              <a:t>×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0" y="310896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2800" b="0">
                <a:solidFill>
                  <a:srgbClr val="7A7566"/>
                </a:solidFill>
                <a:latin typeface="Apple SD Gothic Neo"/>
                <a:ea typeface="Apple SD Gothic Neo"/>
                <a:cs typeface="Apple SD Gothic Neo"/>
              </a:rPr>
              <a:t>=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4343400"/>
            <a:ext cx="10725912" cy="10972"/>
          </a:xfrm>
          <a:prstGeom prst="rect">
            <a:avLst/>
          </a:prstGeom>
          <a:solidFill>
            <a:srgbClr val="E2DF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31520" y="4526280"/>
            <a:ext cx="1188720" cy="1188720"/>
          </a:xfrm>
          <a:prstGeom prst="ellipse">
            <a:avLst/>
          </a:prstGeom>
          <a:solidFill>
            <a:srgbClr val="F6EAD9"/>
          </a:solidFill>
          <a:ln w="38100">
            <a:solidFill>
              <a:srgbClr val="A568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ctr">
              <a:spcAft>
                <a:spcPts val="0"/>
              </a:spcAft>
            </a:pPr>
            <a:r>
              <a:rPr sz="4400" b="1">
                <a:solidFill>
                  <a:srgbClr val="A5682F"/>
                </a:solidFill>
                <a:latin typeface="Apple SD Gothic Neo"/>
                <a:ea typeface="Apple SD Gothic Neo"/>
                <a:cs typeface="Apple SD Gothic Neo"/>
              </a:rPr>
              <a:t>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48840" y="4617720"/>
            <a:ext cx="932688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400" b="1">
                <a:solidFill>
                  <a:srgbClr val="282621"/>
                </a:solidFill>
                <a:latin typeface="Apple SD Gothic Neo"/>
                <a:ea typeface="Apple SD Gothic Neo"/>
                <a:cs typeface="Apple SD Gothic Neo"/>
              </a:rPr>
              <a:t>피해야 할 것을 권한 경우 0건.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50" b="0">
                <a:solidFill>
                  <a:srgbClr val="48453C"/>
                </a:solidFill>
                <a:latin typeface="Apple SD Gothic Neo"/>
                <a:ea typeface="Apple SD Gothic Neo"/>
                <a:cs typeface="Apple SD Gothic Neo"/>
              </a:rPr>
              <a:t>검사 24종이 고칠 때마다 돕니다. 검사는 앱이 쓰는 기준을 빌리지 않고 따로 세웁니다 — 같은 기준으로 재면 같이 틀리기 때문입니다.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6236208"/>
            <a:ext cx="10725912" cy="10972"/>
          </a:xfrm>
          <a:prstGeom prst="rect">
            <a:avLst/>
          </a:prstGeom>
          <a:solidFill>
            <a:srgbClr val="E2DF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6327648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1">
                <a:solidFill>
                  <a:srgbClr val="4B6936"/>
                </a:solidFill>
                <a:latin typeface="Apple SD Gothic Neo"/>
                <a:ea typeface="Apple SD Gothic Neo"/>
                <a:cs typeface="Apple SD Gothic Neo"/>
              </a:rPr>
              <a:t>하루차림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60320" y="6327648"/>
            <a:ext cx="88971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7A7566"/>
                </a:solidFill>
                <a:latin typeface="Apple SD Gothic Neo"/>
                <a:ea typeface="Apple SD Gothic Neo"/>
                <a:cs typeface="Apple SD Gothic Neo"/>
              </a:rPr>
              <a:t>2026년 9월 대규모 실행 · 서로 다른 음식 221종이 쓰임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68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93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3" grpId="0" animBg="1"/>
      <p:bldP spid="14" grpId="0" animBg="1"/>
    </p:bld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111822" cy="45720"/>
          </a:xfrm>
          <a:prstGeom prst="rect">
            <a:avLst/>
          </a:prstGeom>
          <a:solidFill>
            <a:srgbClr val="4B69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61320" y="2743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7A7566"/>
                </a:solidFill>
                <a:latin typeface="Apple SD Gothic Neo"/>
                <a:ea typeface="Apple SD Gothic Neo"/>
                <a:cs typeface="Apple SD Gothic Neo"/>
              </a:rPr>
              <a:t>07 /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4B6936"/>
                </a:solidFill>
                <a:latin typeface="Apple SD Gothic Neo"/>
                <a:ea typeface="Apple SD Gothic Neo"/>
                <a:cs typeface="Apple SD Gothic Neo"/>
              </a:rPr>
              <a:t>다섯 · 원문 대조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51560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200" b="1">
                <a:solidFill>
                  <a:srgbClr val="282621"/>
                </a:solidFill>
                <a:latin typeface="Apple SD Gothic Neo"/>
                <a:ea typeface="Apple SD Gothic Neo"/>
                <a:cs typeface="Apple SD Gothic Neo"/>
              </a:rPr>
              <a:t>참고 문헌을 원문과 다시 읽고 고친 것 (2026년 9월 대조)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920240"/>
            <a:ext cx="10725912" cy="10972"/>
          </a:xfrm>
          <a:prstGeom prst="rect">
            <a:avLst/>
          </a:prstGeom>
          <a:solidFill>
            <a:srgbClr val="E2DF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29968"/>
            <a:ext cx="10725912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>
                <a:solidFill>
                  <a:srgbClr val="48453C"/>
                </a:solidFill>
                <a:latin typeface="Apple SD Gothic Neo"/>
                <a:ea typeface="Apple SD Gothic Neo"/>
                <a:cs typeface="Apple SD Gothic Neo"/>
              </a:rPr>
              <a:t>오심에 생강차를 권하면서, 와파린을 드시는 분의 출혈 위험 경고가 없었습니다</a:t>
            </a:r>
            <a:r>
              <a:rPr sz="1600" b="1">
                <a:solidFill>
                  <a:srgbClr val="A5682F"/>
                </a:solidFill>
                <a:latin typeface="Apple SD Gothic Neo"/>
                <a:ea typeface="Apple SD Gothic Neo"/>
                <a:cs typeface="Apple SD Gothic Neo"/>
              </a:rPr>
              <a:t>   →   </a:t>
            </a:r>
            <a:r>
              <a:rPr sz="1400" b="1">
                <a:solidFill>
                  <a:srgbClr val="324326"/>
                </a:solidFill>
                <a:latin typeface="Apple SD Gothic Neo"/>
                <a:ea typeface="Apple SD Gothic Neo"/>
                <a:cs typeface="Apple SD Gothic Neo"/>
              </a:rPr>
              <a:t>경고를 붙였습니다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2852928"/>
            <a:ext cx="10725912" cy="10972"/>
          </a:xfrm>
          <a:prstGeom prst="rect">
            <a:avLst/>
          </a:prstGeom>
          <a:solidFill>
            <a:srgbClr val="E2DF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880360"/>
            <a:ext cx="10725912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>
                <a:solidFill>
                  <a:srgbClr val="48453C"/>
                </a:solidFill>
                <a:latin typeface="Apple SD Gothic Neo"/>
                <a:ea typeface="Apple SD Gothic Neo"/>
                <a:cs typeface="Apple SD Gothic Neo"/>
              </a:rPr>
              <a:t>수술 뒤 4~6주 식사를 가리라고 적었습니다. 회복 지침(ERAS)은 당일부터 드시기를 권합니다</a:t>
            </a:r>
            <a:r>
              <a:rPr sz="1600" b="1">
                <a:solidFill>
                  <a:srgbClr val="A5682F"/>
                </a:solidFill>
                <a:latin typeface="Apple SD Gothic Neo"/>
                <a:ea typeface="Apple SD Gothic Neo"/>
                <a:cs typeface="Apple SD Gothic Neo"/>
              </a:rPr>
              <a:t>   →   </a:t>
            </a:r>
            <a:r>
              <a:rPr sz="1400" b="1">
                <a:solidFill>
                  <a:srgbClr val="324326"/>
                </a:solidFill>
                <a:latin typeface="Apple SD Gothic Neo"/>
                <a:ea typeface="Apple SD Gothic Neo"/>
                <a:cs typeface="Apple SD Gothic Neo"/>
              </a:rPr>
              <a:t>방향을 바로잡았습니다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3703320"/>
            <a:ext cx="10725912" cy="10972"/>
          </a:xfrm>
          <a:prstGeom prst="rect">
            <a:avLst/>
          </a:prstGeom>
          <a:solidFill>
            <a:srgbClr val="E2DF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3730752"/>
            <a:ext cx="10725912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>
                <a:solidFill>
                  <a:srgbClr val="48453C"/>
                </a:solidFill>
                <a:latin typeface="Apple SD Gothic Neo"/>
                <a:ea typeface="Apple SD Gothic Neo"/>
                <a:cs typeface="Apple SD Gothic Neo"/>
              </a:rPr>
              <a:t>찾을 수 없는 논문 한 편, 구독자 전용이라 대조할 수 없는 지침 하나를 인용하고 있었습니다</a:t>
            </a:r>
            <a:r>
              <a:rPr sz="1600" b="1">
                <a:solidFill>
                  <a:srgbClr val="A5682F"/>
                </a:solidFill>
                <a:latin typeface="Apple SD Gothic Neo"/>
                <a:ea typeface="Apple SD Gothic Neo"/>
                <a:cs typeface="Apple SD Gothic Neo"/>
              </a:rPr>
              <a:t>   →   </a:t>
            </a:r>
            <a:r>
              <a:rPr sz="1400" b="1">
                <a:solidFill>
                  <a:srgbClr val="324326"/>
                </a:solidFill>
                <a:latin typeface="Apple SD Gothic Neo"/>
                <a:ea typeface="Apple SD Gothic Neo"/>
                <a:cs typeface="Apple SD Gothic Neo"/>
              </a:rPr>
              <a:t>인용에서 뺐습니다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4553712"/>
            <a:ext cx="10725912" cy="10972"/>
          </a:xfrm>
          <a:prstGeom prst="rect">
            <a:avLst/>
          </a:prstGeom>
          <a:solidFill>
            <a:srgbClr val="E2DF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4581144"/>
            <a:ext cx="10725912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>
                <a:solidFill>
                  <a:srgbClr val="48453C"/>
                </a:solidFill>
                <a:latin typeface="Apple SD Gothic Neo"/>
                <a:ea typeface="Apple SD Gothic Neo"/>
                <a:cs typeface="Apple SD Gothic Neo"/>
              </a:rPr>
              <a:t>나트륨 기준을 2,000 mg 으로 적었습니다. 한국인 섭취기준의 만성질환위험감소량은 2,300 mg 입니다</a:t>
            </a:r>
            <a:r>
              <a:rPr sz="1600" b="1">
                <a:solidFill>
                  <a:srgbClr val="A5682F"/>
                </a:solidFill>
                <a:latin typeface="Apple SD Gothic Neo"/>
                <a:ea typeface="Apple SD Gothic Neo"/>
                <a:cs typeface="Apple SD Gothic Neo"/>
              </a:rPr>
              <a:t>   →   </a:t>
            </a:r>
            <a:r>
              <a:rPr sz="1400" b="1">
                <a:solidFill>
                  <a:srgbClr val="324326"/>
                </a:solidFill>
                <a:latin typeface="Apple SD Gothic Neo"/>
                <a:ea typeface="Apple SD Gothic Neo"/>
                <a:cs typeface="Apple SD Gothic Neo"/>
              </a:rPr>
              <a:t>고쳤습니다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5404104"/>
            <a:ext cx="10725912" cy="10972"/>
          </a:xfrm>
          <a:prstGeom prst="rect">
            <a:avLst/>
          </a:prstGeom>
          <a:solidFill>
            <a:srgbClr val="E2DF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5532120"/>
            <a:ext cx="1072591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900" b="1">
                <a:solidFill>
                  <a:srgbClr val="282621"/>
                </a:solidFill>
                <a:latin typeface="Apple SD Gothic Neo"/>
                <a:ea typeface="Apple SD Gothic Neo"/>
                <a:cs typeface="Apple SD Gothic Neo"/>
              </a:rPr>
              <a:t>숫자는 대개 맞았습니다. 틀린 것은 </a:t>
            </a:r>
            <a:r>
              <a:rPr sz="1900" b="1">
                <a:solidFill>
                  <a:srgbClr val="A5682F"/>
                </a:solidFill>
                <a:latin typeface="Apple SD Gothic Neo"/>
                <a:ea typeface="Apple SD Gothic Neo"/>
                <a:cs typeface="Apple SD Gothic Neo"/>
              </a:rPr>
              <a:t>“그 논문이 정말 그 말을 하는가”</a:t>
            </a:r>
            <a:r>
              <a:rPr sz="1900" b="1">
                <a:solidFill>
                  <a:srgbClr val="282621"/>
                </a:solidFill>
                <a:latin typeface="Apple SD Gothic Neo"/>
                <a:ea typeface="Apple SD Gothic Neo"/>
                <a:cs typeface="Apple SD Gothic Neo"/>
              </a:rPr>
              <a:t>였습니다.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6236208"/>
            <a:ext cx="10725912" cy="10972"/>
          </a:xfrm>
          <a:prstGeom prst="rect">
            <a:avLst/>
          </a:prstGeom>
          <a:solidFill>
            <a:srgbClr val="E2DF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6327648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1">
                <a:solidFill>
                  <a:srgbClr val="4B6936"/>
                </a:solidFill>
                <a:latin typeface="Apple SD Gothic Neo"/>
                <a:ea typeface="Apple SD Gothic Neo"/>
                <a:cs typeface="Apple SD Gothic Neo"/>
              </a:rPr>
              <a:t>하루차림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60320" y="6327648"/>
            <a:ext cx="88971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7A7566"/>
                </a:solidFill>
                <a:latin typeface="Apple SD Gothic Neo"/>
                <a:ea typeface="Apple SD Gothic Neo"/>
                <a:cs typeface="Apple SD Gothic Neo"/>
              </a:rPr>
              <a:t>근거를 부풀리지도, 낮추지도 않는다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62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106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6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7" grpId="0" animBg="1"/>
      <p:bldP spid="9" grpId="0" animBg="1"/>
      <p:bldP spid="11" grpId="0" animBg="1"/>
      <p:bldP spid="13" grpId="0" animBg="1"/>
      <p:bldP spid="15" grpId="0" animBg="1"/>
    </p:bld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127796" cy="45720"/>
          </a:xfrm>
          <a:prstGeom prst="rect">
            <a:avLst/>
          </a:prstGeom>
          <a:solidFill>
            <a:srgbClr val="4B69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61320" y="2743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7A7566"/>
                </a:solidFill>
                <a:latin typeface="Apple SD Gothic Neo"/>
                <a:ea typeface="Apple SD Gothic Neo"/>
                <a:cs typeface="Apple SD Gothic Neo"/>
              </a:rPr>
              <a:t>08 /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4B6936"/>
                </a:solidFill>
                <a:latin typeface="Apple SD Gothic Neo"/>
                <a:ea typeface="Apple SD Gothic Neo"/>
                <a:cs typeface="Apple SD Gothic Neo"/>
              </a:rPr>
              <a:t>여섯 · 화면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51560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200" b="1">
                <a:solidFill>
                  <a:srgbClr val="282621"/>
                </a:solidFill>
                <a:latin typeface="Apple SD Gothic Neo"/>
                <a:ea typeface="Apple SD Gothic Neo"/>
                <a:cs typeface="Apple SD Gothic Neo"/>
              </a:rPr>
              <a:t>한 번 누르면 이유까지 나옵니다</a:t>
            </a:r>
          </a:p>
        </p:txBody>
      </p:sp>
      <p:pic>
        <p:nvPicPr>
          <p:cNvPr id="6" name="Picture 5" descr="1-sugges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7400" y="1783080"/>
            <a:ext cx="1828800" cy="3255264"/>
          </a:xfrm>
          <a:prstGeom prst="rect">
            <a:avLst/>
          </a:prstGeom>
          <a:ln w="38100">
            <a:solidFill>
              <a:srgbClr val="282621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1600200" y="5166360"/>
            <a:ext cx="27432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400" b="1">
                <a:solidFill>
                  <a:srgbClr val="282621"/>
                </a:solidFill>
                <a:latin typeface="Apple SD Gothic Neo"/>
                <a:ea typeface="Apple SD Gothic Neo"/>
                <a:cs typeface="Apple SD Gothic Neo"/>
              </a:rPr>
              <a:t>오늘 무엇을 드실지</a:t>
            </a:r>
          </a:p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50" b="0">
                <a:solidFill>
                  <a:srgbClr val="7A7566"/>
                </a:solidFill>
                <a:latin typeface="Apple SD Gothic Neo"/>
                <a:ea typeface="Apple SD Gothic Neo"/>
                <a:cs typeface="Apple SD Gothic Neo"/>
              </a:rPr>
              <a:t>암종·시기·증상에 맞춘 한 상</a:t>
            </a:r>
          </a:p>
        </p:txBody>
      </p:sp>
      <p:pic>
        <p:nvPicPr>
          <p:cNvPr id="8" name="Picture 7" descr="3-search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2080" y="1783080"/>
            <a:ext cx="1828800" cy="3255264"/>
          </a:xfrm>
          <a:prstGeom prst="rect">
            <a:avLst/>
          </a:prstGeom>
          <a:ln w="38100">
            <a:solidFill>
              <a:srgbClr val="282621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4754880" y="5166360"/>
            <a:ext cx="27432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400" b="1">
                <a:solidFill>
                  <a:srgbClr val="282621"/>
                </a:solidFill>
                <a:latin typeface="Apple SD Gothic Neo"/>
                <a:ea typeface="Apple SD Gothic Neo"/>
                <a:cs typeface="Apple SD Gothic Neo"/>
              </a:rPr>
              <a:t>이거 먹어도 되나요?</a:t>
            </a:r>
          </a:p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50" b="0">
                <a:solidFill>
                  <a:srgbClr val="7A7566"/>
                </a:solidFill>
                <a:latin typeface="Apple SD Gothic Neo"/>
                <a:ea typeface="Apple SD Gothic Neo"/>
                <a:cs typeface="Apple SD Gothic Neo"/>
              </a:rPr>
              <a:t>자몽 · 피하세요 · 근거와 함께</a:t>
            </a:r>
          </a:p>
        </p:txBody>
      </p:sp>
      <p:pic>
        <p:nvPicPr>
          <p:cNvPr id="10" name="Picture 9" descr="4-supp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66760" y="1783080"/>
            <a:ext cx="1828800" cy="3255264"/>
          </a:xfrm>
          <a:prstGeom prst="rect">
            <a:avLst/>
          </a:prstGeom>
          <a:ln w="38100">
            <a:solidFill>
              <a:srgbClr val="282621"/>
            </a:solidFill>
          </a:ln>
        </p:spPr>
      </p:pic>
      <p:sp>
        <p:nvSpPr>
          <p:cNvPr id="11" name="TextBox 10"/>
          <p:cNvSpPr txBox="1"/>
          <p:nvPr/>
        </p:nvSpPr>
        <p:spPr>
          <a:xfrm>
            <a:off x="7909560" y="5166360"/>
            <a:ext cx="27432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400" b="1">
                <a:solidFill>
                  <a:srgbClr val="282621"/>
                </a:solidFill>
                <a:latin typeface="Apple SD Gothic Neo"/>
                <a:ea typeface="Apple SD Gothic Neo"/>
                <a:cs typeface="Apple SD Gothic Neo"/>
              </a:rPr>
              <a:t>근거가 있는 것과 없는 것</a:t>
            </a:r>
          </a:p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50" b="0">
                <a:solidFill>
                  <a:srgbClr val="7A7566"/>
                </a:solidFill>
                <a:latin typeface="Apple SD Gothic Neo"/>
                <a:ea typeface="Apple SD Gothic Neo"/>
                <a:cs typeface="Apple SD Gothic Neo"/>
              </a:rPr>
              <a:t>드시는 약과의 상호작용까지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6236208"/>
            <a:ext cx="10725912" cy="10972"/>
          </a:xfrm>
          <a:prstGeom prst="rect">
            <a:avLst/>
          </a:prstGeom>
          <a:solidFill>
            <a:srgbClr val="E2DF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6327648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1">
                <a:solidFill>
                  <a:srgbClr val="4B6936"/>
                </a:solidFill>
                <a:latin typeface="Apple SD Gothic Neo"/>
                <a:ea typeface="Apple SD Gothic Neo"/>
                <a:cs typeface="Apple SD Gothic Neo"/>
              </a:rPr>
              <a:t>하루차림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60320" y="6327648"/>
            <a:ext cx="88971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7A7566"/>
                </a:solidFill>
                <a:latin typeface="Apple SD Gothic Neo"/>
                <a:ea typeface="Apple SD Gothic Neo"/>
                <a:cs typeface="Apple SD Gothic Neo"/>
              </a:rPr>
              <a:t>예시 — 유방암 · 호르몬수용체 양성 · 항암치료 중 · 타목시펜 복용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85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95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7" grpId="0" animBg="1"/>
      <p:bldP spid="9" grpId="0" animBg="1"/>
      <p:bldP spid="11" grpId="0" animBg="1"/>
    </p:bld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3771" cy="45720"/>
          </a:xfrm>
          <a:prstGeom prst="rect">
            <a:avLst/>
          </a:prstGeom>
          <a:solidFill>
            <a:srgbClr val="4B69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61320" y="2743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7A7566"/>
                </a:solidFill>
                <a:latin typeface="Apple SD Gothic Neo"/>
                <a:ea typeface="Apple SD Gothic Neo"/>
                <a:cs typeface="Apple SD Gothic Neo"/>
              </a:rPr>
              <a:t>09 /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4B6936"/>
                </a:solidFill>
                <a:latin typeface="Apple SD Gothic Neo"/>
                <a:ea typeface="Apple SD Gothic Neo"/>
                <a:cs typeface="Apple SD Gothic Neo"/>
              </a:rPr>
              <a:t>일곱 · 무엇이 다른가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51560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200" b="1">
                <a:solidFill>
                  <a:srgbClr val="282621"/>
                </a:solidFill>
                <a:latin typeface="Apple SD Gothic Neo"/>
                <a:ea typeface="Apple SD Gothic Neo"/>
                <a:cs typeface="Apple SD Gothic Neo"/>
              </a:rPr>
              <a:t>흔히 찾아보시는 곳과 견주면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783080"/>
          <a:ext cx="10725912" cy="365760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3959352"/>
                <a:gridCol w="1353312"/>
                <a:gridCol w="1353312"/>
                <a:gridCol w="1353312"/>
                <a:gridCol w="1353312"/>
                <a:gridCol w="1353312"/>
              </a:tblGrid>
              <a:tr h="522514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7A7566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/>
                      </a:r>
                    </a:p>
                  </a:txBody>
                  <a:tcPr marL="73152" marR="73152" anchor="ctr">
                    <a:solidFill>
                      <a:srgbClr val="FAF9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7A7566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병원 안내문</a:t>
                      </a:r>
                    </a:p>
                  </a:txBody>
                  <a:tcPr marL="73152" marR="73152" anchor="ctr">
                    <a:solidFill>
                      <a:srgbClr val="FAF9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7A7566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검색 · 블로그</a:t>
                      </a:r>
                    </a:p>
                  </a:txBody>
                  <a:tcPr marL="73152" marR="73152" anchor="ctr">
                    <a:solidFill>
                      <a:srgbClr val="FAF9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7A7566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식단 배송</a:t>
                      </a:r>
                    </a:p>
                  </a:txBody>
                  <a:tcPr marL="73152" marR="73152" anchor="ctr">
                    <a:solidFill>
                      <a:srgbClr val="FAF9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7A7566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일반 식단 앱</a:t>
                      </a:r>
                    </a:p>
                  </a:txBody>
                  <a:tcPr marL="73152" marR="73152" anchor="ctr">
                    <a:solidFill>
                      <a:srgbClr val="FAF9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324326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하루차림</a:t>
                      </a:r>
                    </a:p>
                  </a:txBody>
                  <a:tcPr marL="73152" marR="73152" anchor="ctr">
                    <a:solidFill>
                      <a:srgbClr val="EEF2E6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282621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지금 내 암종·치료 시기·증상에 맞춘 판정</a:t>
                      </a:r>
                    </a:p>
                  </a:txBody>
                  <a:tcPr marL="73152" marR="73152" anchor="ctr">
                    <a:solidFill>
                      <a:srgbClr val="FAF9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A5682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◐</a:t>
                      </a:r>
                    </a:p>
                  </a:txBody>
                  <a:tcPr marL="73152" marR="73152" anchor="ctr">
                    <a:solidFill>
                      <a:srgbClr val="FAF9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7A7566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○</a:t>
                      </a:r>
                    </a:p>
                  </a:txBody>
                  <a:tcPr marL="73152" marR="73152" anchor="ctr">
                    <a:solidFill>
                      <a:srgbClr val="FAF9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A5682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◐</a:t>
                      </a:r>
                    </a:p>
                  </a:txBody>
                  <a:tcPr marL="73152" marR="73152" anchor="ctr">
                    <a:solidFill>
                      <a:srgbClr val="FAF9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7A7566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○</a:t>
                      </a:r>
                    </a:p>
                  </a:txBody>
                  <a:tcPr marL="73152" marR="73152" anchor="ctr">
                    <a:solidFill>
                      <a:srgbClr val="FAF9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4B6936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●</a:t>
                      </a:r>
                    </a:p>
                  </a:txBody>
                  <a:tcPr marL="73152" marR="73152" anchor="ctr">
                    <a:solidFill>
                      <a:srgbClr val="EEF2E6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282621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판단마다 출처와 근거 등급</a:t>
                      </a:r>
                    </a:p>
                  </a:txBody>
                  <a:tcPr marL="73152" marR="73152" anchor="ctr">
                    <a:solidFill>
                      <a:srgbClr val="FAF9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A5682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◐</a:t>
                      </a:r>
                    </a:p>
                  </a:txBody>
                  <a:tcPr marL="73152" marR="73152" anchor="ctr">
                    <a:solidFill>
                      <a:srgbClr val="FAF9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7A7566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○</a:t>
                      </a:r>
                    </a:p>
                  </a:txBody>
                  <a:tcPr marL="73152" marR="73152" anchor="ctr">
                    <a:solidFill>
                      <a:srgbClr val="FAF9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7A7566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○</a:t>
                      </a:r>
                    </a:p>
                  </a:txBody>
                  <a:tcPr marL="73152" marR="73152" anchor="ctr">
                    <a:solidFill>
                      <a:srgbClr val="FAF9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7A7566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○</a:t>
                      </a:r>
                    </a:p>
                  </a:txBody>
                  <a:tcPr marL="73152" marR="73152" anchor="ctr">
                    <a:solidFill>
                      <a:srgbClr val="FAF9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4B6936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●</a:t>
                      </a:r>
                    </a:p>
                  </a:txBody>
                  <a:tcPr marL="73152" marR="73152" anchor="ctr">
                    <a:solidFill>
                      <a:srgbClr val="EEF2E6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282621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드시는 약과 음식의 상호작용</a:t>
                      </a:r>
                    </a:p>
                  </a:txBody>
                  <a:tcPr marL="73152" marR="73152" anchor="ctr">
                    <a:solidFill>
                      <a:srgbClr val="FAF9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A5682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◐</a:t>
                      </a:r>
                    </a:p>
                  </a:txBody>
                  <a:tcPr marL="73152" marR="73152" anchor="ctr">
                    <a:solidFill>
                      <a:srgbClr val="FAF9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7A7566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○</a:t>
                      </a:r>
                    </a:p>
                  </a:txBody>
                  <a:tcPr marL="73152" marR="73152" anchor="ctr">
                    <a:solidFill>
                      <a:srgbClr val="FAF9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7A7566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○</a:t>
                      </a:r>
                    </a:p>
                  </a:txBody>
                  <a:tcPr marL="73152" marR="73152" anchor="ctr">
                    <a:solidFill>
                      <a:srgbClr val="FAF9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7A7566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○</a:t>
                      </a:r>
                    </a:p>
                  </a:txBody>
                  <a:tcPr marL="73152" marR="73152" anchor="ctr">
                    <a:solidFill>
                      <a:srgbClr val="FAF9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4B6936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●</a:t>
                      </a:r>
                    </a:p>
                  </a:txBody>
                  <a:tcPr marL="73152" marR="73152" anchor="ctr">
                    <a:solidFill>
                      <a:srgbClr val="EEF2E6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282621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국·김치·젓갈까지 한국 밥상을 1회 제공량으로</a:t>
                      </a:r>
                    </a:p>
                  </a:txBody>
                  <a:tcPr marL="73152" marR="73152" anchor="ctr">
                    <a:solidFill>
                      <a:srgbClr val="FAF9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A5682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◐</a:t>
                      </a:r>
                    </a:p>
                  </a:txBody>
                  <a:tcPr marL="73152" marR="73152" anchor="ctr">
                    <a:solidFill>
                      <a:srgbClr val="FAF9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A5682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◐</a:t>
                      </a:r>
                    </a:p>
                  </a:txBody>
                  <a:tcPr marL="73152" marR="73152" anchor="ctr">
                    <a:solidFill>
                      <a:srgbClr val="FAF9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4B6936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●</a:t>
                      </a:r>
                    </a:p>
                  </a:txBody>
                  <a:tcPr marL="73152" marR="73152" anchor="ctr">
                    <a:solidFill>
                      <a:srgbClr val="FAF9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A5682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◐</a:t>
                      </a:r>
                    </a:p>
                  </a:txBody>
                  <a:tcPr marL="73152" marR="73152" anchor="ctr">
                    <a:solidFill>
                      <a:srgbClr val="FAF9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4B6936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●</a:t>
                      </a:r>
                    </a:p>
                  </a:txBody>
                  <a:tcPr marL="73152" marR="73152" anchor="ctr">
                    <a:solidFill>
                      <a:srgbClr val="EEF2E6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282621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파는 것이 없음 — 추천에 상업적 이해가 없음</a:t>
                      </a:r>
                    </a:p>
                  </a:txBody>
                  <a:tcPr marL="73152" marR="73152" anchor="ctr">
                    <a:solidFill>
                      <a:srgbClr val="FAF9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4B6936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●</a:t>
                      </a:r>
                    </a:p>
                  </a:txBody>
                  <a:tcPr marL="73152" marR="73152" anchor="ctr">
                    <a:solidFill>
                      <a:srgbClr val="FAF9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7A7566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○</a:t>
                      </a:r>
                    </a:p>
                  </a:txBody>
                  <a:tcPr marL="73152" marR="73152" anchor="ctr">
                    <a:solidFill>
                      <a:srgbClr val="FAF9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7A7566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○</a:t>
                      </a:r>
                    </a:p>
                  </a:txBody>
                  <a:tcPr marL="73152" marR="73152" anchor="ctr">
                    <a:solidFill>
                      <a:srgbClr val="FAF9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A5682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◐</a:t>
                      </a:r>
                    </a:p>
                  </a:txBody>
                  <a:tcPr marL="73152" marR="73152" anchor="ctr">
                    <a:solidFill>
                      <a:srgbClr val="FAF9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4B6936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●</a:t>
                      </a:r>
                    </a:p>
                  </a:txBody>
                  <a:tcPr marL="73152" marR="73152" anchor="ctr">
                    <a:solidFill>
                      <a:srgbClr val="EEF2E6"/>
                    </a:solidFill>
                  </a:tcPr>
                </a:tc>
              </a:tr>
              <a:tr h="522516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282621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건강 정보가 기기 밖으로 나가지 않음</a:t>
                      </a:r>
                    </a:p>
                  </a:txBody>
                  <a:tcPr marL="73152" marR="73152" anchor="ctr">
                    <a:solidFill>
                      <a:srgbClr val="FAF9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4B6936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●</a:t>
                      </a:r>
                    </a:p>
                  </a:txBody>
                  <a:tcPr marL="73152" marR="73152" anchor="ctr">
                    <a:solidFill>
                      <a:srgbClr val="FAF9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7A7566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○</a:t>
                      </a:r>
                    </a:p>
                  </a:txBody>
                  <a:tcPr marL="73152" marR="73152" anchor="ctr">
                    <a:solidFill>
                      <a:srgbClr val="FAF9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7A7566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○</a:t>
                      </a:r>
                    </a:p>
                  </a:txBody>
                  <a:tcPr marL="73152" marR="73152" anchor="ctr">
                    <a:solidFill>
                      <a:srgbClr val="FAF9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7A7566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○</a:t>
                      </a:r>
                    </a:p>
                  </a:txBody>
                  <a:tcPr marL="73152" marR="73152" anchor="ctr">
                    <a:solidFill>
                      <a:srgbClr val="FAF9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4B6936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●</a:t>
                      </a:r>
                    </a:p>
                  </a:txBody>
                  <a:tcPr marL="73152" marR="73152" anchor="ctr">
                    <a:solidFill>
                      <a:srgbClr val="EEF2E6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31520" y="5577840"/>
            <a:ext cx="1072591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4B6936"/>
                </a:solidFill>
                <a:latin typeface="Apple SD Gothic Neo"/>
                <a:ea typeface="Apple SD Gothic Neo"/>
                <a:cs typeface="Apple SD Gothic Neo"/>
              </a:rPr>
              <a:t>● 있음    </a:t>
            </a:r>
            <a:r>
              <a:rPr sz="1100" b="0">
                <a:solidFill>
                  <a:srgbClr val="A5682F"/>
                </a:solidFill>
                <a:latin typeface="Apple SD Gothic Neo"/>
                <a:ea typeface="Apple SD Gothic Neo"/>
                <a:cs typeface="Apple SD Gothic Neo"/>
              </a:rPr>
              <a:t>◐ 일부    </a:t>
            </a:r>
            <a:r>
              <a:rPr sz="1100" b="0">
                <a:solidFill>
                  <a:srgbClr val="7A7566"/>
                </a:solidFill>
                <a:latin typeface="Apple SD Gothic Neo"/>
                <a:ea typeface="Apple SD Gothic Neo"/>
                <a:cs typeface="Apple SD Gothic Neo"/>
              </a:rPr>
              <a:t>○ 없음    </a:t>
            </a:r>
            <a:r>
              <a:rPr sz="1100" b="0">
                <a:solidFill>
                  <a:srgbClr val="7A7566"/>
                </a:solidFill>
                <a:latin typeface="Apple SD Gothic Neo"/>
                <a:ea typeface="Apple SD Gothic Neo"/>
                <a:cs typeface="Apple SD Gothic Neo"/>
              </a:rPr>
              <a:t>— 일반적인 경우를 견준 것이며, 곳마다 다릅니다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6236208"/>
            <a:ext cx="10725912" cy="10972"/>
          </a:xfrm>
          <a:prstGeom prst="rect">
            <a:avLst/>
          </a:prstGeom>
          <a:solidFill>
            <a:srgbClr val="E2DF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6327648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1">
                <a:solidFill>
                  <a:srgbClr val="4B6936"/>
                </a:solidFill>
                <a:latin typeface="Apple SD Gothic Neo"/>
                <a:ea typeface="Apple SD Gothic Neo"/>
                <a:cs typeface="Apple SD Gothic Neo"/>
              </a:rPr>
              <a:t>하루차림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60320" y="6327648"/>
            <a:ext cx="88971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7A7566"/>
                </a:solidFill>
                <a:latin typeface="Apple SD Gothic Neo"/>
                <a:ea typeface="Apple SD Gothic Neo"/>
                <a:cs typeface="Apple SD Gothic Neo"/>
              </a:rPr>
              <a:t>특정 서비스가 아니라 갈래를 견준 것입니다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7" grpId="0" animBg="1"/>
    </p:bld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159746" cy="45720"/>
          </a:xfrm>
          <a:prstGeom prst="rect">
            <a:avLst/>
          </a:prstGeom>
          <a:solidFill>
            <a:srgbClr val="4B69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61320" y="2743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7A7566"/>
                </a:solidFill>
                <a:latin typeface="Apple SD Gothic Neo"/>
                <a:ea typeface="Apple SD Gothic Neo"/>
                <a:cs typeface="Apple SD Gothic Neo"/>
              </a:rPr>
              <a:t>10 /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4B6936"/>
                </a:solidFill>
                <a:latin typeface="Apple SD Gothic Neo"/>
                <a:ea typeface="Apple SD Gothic Neo"/>
                <a:cs typeface="Apple SD Gothic Neo"/>
              </a:rPr>
              <a:t>여덟 · 개인정보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51560"/>
            <a:ext cx="105156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>
                <a:solidFill>
                  <a:srgbClr val="282621"/>
                </a:solidFill>
                <a:latin typeface="Apple SD Gothic Neo"/>
                <a:ea typeface="Apple SD Gothic Neo"/>
                <a:cs typeface="Apple SD Gothic Neo"/>
              </a:rPr>
              <a:t>적어 두신 건강 정보는 기기 밖으로 나가지 않습니다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148840"/>
            <a:ext cx="4160520" cy="54864"/>
          </a:xfrm>
          <a:prstGeom prst="rect">
            <a:avLst/>
          </a:prstGeom>
          <a:solidFill>
            <a:srgbClr val="4B69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377440"/>
            <a:ext cx="4160520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sz="2100" b="1">
                <a:solidFill>
                  <a:srgbClr val="324326"/>
                </a:solidFill>
                <a:latin typeface="Apple SD Gothic Neo"/>
                <a:ea typeface="Apple SD Gothic Neo"/>
                <a:cs typeface="Apple SD Gothic Neo"/>
              </a:rPr>
              <a:t>이 기기 안에만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8453C"/>
                </a:solidFill>
                <a:latin typeface="Apple SD Gothic Neo"/>
                <a:ea typeface="Apple SD Gothic Neo"/>
                <a:cs typeface="Apple SD Gothic Neo"/>
              </a:rPr>
              <a:t>· 암종 · 치료 시기 · 병기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8453C"/>
                </a:solidFill>
                <a:latin typeface="Apple SD Gothic Neo"/>
                <a:ea typeface="Apple SD Gothic Neo"/>
                <a:cs typeface="Apple SD Gothic Neo"/>
              </a:rPr>
              <a:t>· 체중 · 신장 · 나이의 실제 수치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8453C"/>
                </a:solidFill>
                <a:latin typeface="Apple SD Gothic Neo"/>
                <a:ea typeface="Apple SD Gothic Neo"/>
                <a:cs typeface="Apple SD Gothic Neo"/>
              </a:rPr>
              <a:t>· 증상과 드시는 약의 내용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8453C"/>
                </a:solidFill>
                <a:latin typeface="Apple SD Gothic Neo"/>
                <a:ea typeface="Apple SD Gothic Neo"/>
                <a:cs typeface="Apple SD Gothic Neo"/>
              </a:rPr>
              <a:t>· 식단 기록과 영양 계산</a:t>
            </a:r>
          </a:p>
        </p:txBody>
      </p:sp>
      <p:sp>
        <p:nvSpPr>
          <p:cNvPr id="8" name="Rectangle 7"/>
          <p:cNvSpPr/>
          <p:nvPr/>
        </p:nvSpPr>
        <p:spPr>
          <a:xfrm>
            <a:off x="5212080" y="2148840"/>
            <a:ext cx="2971800" cy="54864"/>
          </a:xfrm>
          <a:prstGeom prst="rect">
            <a:avLst/>
          </a:prstGeom>
          <a:solidFill>
            <a:srgbClr val="E2DF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212080" y="2377440"/>
            <a:ext cx="2971800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sz="1700" b="1">
                <a:solidFill>
                  <a:srgbClr val="282621"/>
                </a:solidFill>
                <a:latin typeface="Apple SD Gothic Neo"/>
                <a:ea typeface="Apple SD Gothic Neo"/>
                <a:cs typeface="Apple SD Gothic Neo"/>
              </a:rPr>
              <a:t>서버로 가는 것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8453C"/>
                </a:solidFill>
                <a:latin typeface="Apple SD Gothic Neo"/>
                <a:ea typeface="Apple SD Gothic Neo"/>
                <a:cs typeface="Apple SD Gothic Neo"/>
              </a:rPr>
              <a:t>로그인 식별자와, 직접 보내신 문의 글뿐입니다.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8453C"/>
                </a:solidFill>
                <a:latin typeface="Apple SD Gothic Neo"/>
                <a:ea typeface="Apple SD Gothic Neo"/>
                <a:cs typeface="Apple SD Gothic Neo"/>
              </a:rPr>
              <a:t>문의에 답을 드리기 위한 것입니다.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458200" y="2148840"/>
            <a:ext cx="2999232" cy="54864"/>
          </a:xfrm>
          <a:prstGeom prst="rect">
            <a:avLst/>
          </a:prstGeom>
          <a:solidFill>
            <a:srgbClr val="E2DF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58200" y="2377440"/>
            <a:ext cx="2999232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sz="1700" b="1">
                <a:solidFill>
                  <a:srgbClr val="282621"/>
                </a:solidFill>
                <a:latin typeface="Apple SD Gothic Neo"/>
                <a:ea typeface="Apple SD Gothic Neo"/>
                <a:cs typeface="Apple SD Gothic Neo"/>
              </a:rPr>
              <a:t>따로 동의하신 경우에만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8453C"/>
                </a:solidFill>
                <a:latin typeface="Apple SD Gothic Neo"/>
                <a:ea typeface="Apple SD Gothic Neo"/>
                <a:cs typeface="Apple SD Gothic Neo"/>
              </a:rPr>
              <a:t>뭉갠 이용 통계 — 연령대(10년 단위), 체격 구간, 증상의 개수.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8453C"/>
                </a:solidFill>
                <a:latin typeface="Apple SD Gothic Neo"/>
                <a:ea typeface="Apple SD Gothic Neo"/>
                <a:cs typeface="Apple SD Gothic Neo"/>
              </a:rPr>
              <a:t>원본 수치는 받지 않습니다. 언제든 거두실 수 있습니다.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6236208"/>
            <a:ext cx="10725912" cy="10972"/>
          </a:xfrm>
          <a:prstGeom prst="rect">
            <a:avLst/>
          </a:prstGeom>
          <a:solidFill>
            <a:srgbClr val="E2DF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6327648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1">
                <a:solidFill>
                  <a:srgbClr val="4B6936"/>
                </a:solidFill>
                <a:latin typeface="Apple SD Gothic Neo"/>
                <a:ea typeface="Apple SD Gothic Neo"/>
                <a:cs typeface="Apple SD Gothic Neo"/>
              </a:rPr>
              <a:t>하루차림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60320" y="6327648"/>
            <a:ext cx="88971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7A7566"/>
                </a:solidFill>
                <a:latin typeface="Apple SD Gothic Neo"/>
                <a:ea typeface="Apple SD Gothic Neo"/>
                <a:cs typeface="Apple SD Gothic Neo"/>
              </a:rPr>
              <a:t>개인정보처리방침 harucharim.com/privacy.html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9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7" grpId="0" animBg="1"/>
      <p:bldP spid="9" grpId="0" animBg="1"/>
      <p:bldP spid="11" grpId="0" animBg="1"/>
    </p:bld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175720" cy="45720"/>
          </a:xfrm>
          <a:prstGeom prst="rect">
            <a:avLst/>
          </a:prstGeom>
          <a:solidFill>
            <a:srgbClr val="4B69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61320" y="2743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7A7566"/>
                </a:solidFill>
                <a:latin typeface="Apple SD Gothic Neo"/>
                <a:ea typeface="Apple SD Gothic Neo"/>
                <a:cs typeface="Apple SD Gothic Neo"/>
              </a:rPr>
              <a:t>11 /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4B6936"/>
                </a:solidFill>
                <a:latin typeface="Apple SD Gothic Neo"/>
                <a:ea typeface="Apple SD Gothic Neo"/>
                <a:cs typeface="Apple SD Gothic Neo"/>
              </a:rPr>
              <a:t>아홉 · 원칙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43000"/>
            <a:ext cx="1069848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5000" b="1">
                <a:solidFill>
                  <a:srgbClr val="324326"/>
                </a:solidFill>
                <a:latin typeface="Apple SD Gothic Neo"/>
                <a:ea typeface="Apple SD Gothic Neo"/>
                <a:cs typeface="Apple SD Gothic Neo"/>
              </a:rPr>
              <a:t>근거를 부풀리지도,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5000" b="1">
                <a:solidFill>
                  <a:srgbClr val="324326"/>
                </a:solidFill>
                <a:latin typeface="Apple SD Gothic Neo"/>
                <a:ea typeface="Apple SD Gothic Neo"/>
                <a:cs typeface="Apple SD Gothic Neo"/>
              </a:rPr>
              <a:t>낮추지도 않습니다.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3566160"/>
            <a:ext cx="3383280" cy="10972"/>
          </a:xfrm>
          <a:prstGeom prst="rect">
            <a:avLst/>
          </a:prstGeom>
          <a:solidFill>
            <a:srgbClr val="E2DF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3703320"/>
            <a:ext cx="338328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600" b="1">
                <a:solidFill>
                  <a:srgbClr val="282621"/>
                </a:solidFill>
                <a:latin typeface="Apple SD Gothic Neo"/>
                <a:ea typeface="Apple SD Gothic Neo"/>
                <a:cs typeface="Apple SD Gothic Neo"/>
              </a:rPr>
              <a:t>“아직 모릅니다”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50" b="0">
                <a:solidFill>
                  <a:srgbClr val="48453C"/>
                </a:solidFill>
                <a:latin typeface="Apple SD Gothic Neo"/>
                <a:ea typeface="Apple SD Gothic Neo"/>
                <a:cs typeface="Apple SD Gothic Neo"/>
              </a:rPr>
              <a:t>라고 적은 항목이 여럿 있습니다. 확실한 것과 불확실한 것을 섞어 두면, 확실한 것까지 믿지 않게 되기 때문입니다.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4343400" y="3566160"/>
            <a:ext cx="3383280" cy="10972"/>
          </a:xfrm>
          <a:prstGeom prst="rect">
            <a:avLst/>
          </a:prstGeom>
          <a:solidFill>
            <a:srgbClr val="E2DF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43400" y="3703320"/>
            <a:ext cx="338328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600" b="1">
                <a:solidFill>
                  <a:srgbClr val="282621"/>
                </a:solidFill>
                <a:latin typeface="Apple SD Gothic Neo"/>
                <a:ea typeface="Apple SD Gothic Neo"/>
                <a:cs typeface="Apple SD Gothic Neo"/>
              </a:rPr>
              <a:t>의료기기가 아닙니다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50" b="0">
                <a:solidFill>
                  <a:srgbClr val="48453C"/>
                </a:solidFill>
                <a:latin typeface="Apple SD Gothic Neo"/>
                <a:ea typeface="Apple SD Gothic Neo"/>
                <a:cs typeface="Apple SD Gothic Neo"/>
              </a:rPr>
              <a:t>진단하거나 치료 방침을 정하지 않습니다. 모든 화면에 담당 의료진의 지시가 우선한다고 적어 두었습니다.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955280" y="3566160"/>
            <a:ext cx="3383280" cy="10972"/>
          </a:xfrm>
          <a:prstGeom prst="rect">
            <a:avLst/>
          </a:prstGeom>
          <a:solidFill>
            <a:srgbClr val="E2DF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55280" y="3703320"/>
            <a:ext cx="338328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600" b="1">
                <a:solidFill>
                  <a:srgbClr val="282621"/>
                </a:solidFill>
                <a:latin typeface="Apple SD Gothic Neo"/>
                <a:ea typeface="Apple SD Gothic Neo"/>
                <a:cs typeface="Apple SD Gothic Neo"/>
              </a:rPr>
              <a:t>전문의 감수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50" b="0">
                <a:solidFill>
                  <a:srgbClr val="48453C"/>
                </a:solidFill>
                <a:latin typeface="Apple SD Gothic Neo"/>
                <a:ea typeface="Apple SD Gothic Neo"/>
                <a:cs typeface="Apple SD Gothic Neo"/>
              </a:rPr>
              <a:t>암 환자를 25년간 치료해 온 방사선종양학과 전문의가 내용을 감수했습니다.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6236208"/>
            <a:ext cx="10725912" cy="10972"/>
          </a:xfrm>
          <a:prstGeom prst="rect">
            <a:avLst/>
          </a:prstGeom>
          <a:solidFill>
            <a:srgbClr val="E2DF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6327648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1">
                <a:solidFill>
                  <a:srgbClr val="4B6936"/>
                </a:solidFill>
                <a:latin typeface="Apple SD Gothic Neo"/>
                <a:ea typeface="Apple SD Gothic Neo"/>
                <a:cs typeface="Apple SD Gothic Neo"/>
              </a:rPr>
              <a:t>하루차림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60320" y="6327648"/>
            <a:ext cx="88971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7A7566"/>
                </a:solidFill>
                <a:latin typeface="Apple SD Gothic Neo"/>
                <a:ea typeface="Apple SD Gothic Neo"/>
                <a:cs typeface="Apple SD Gothic Neo"/>
              </a:rPr>
              <a:t>식품의약품안전처에 의료기기 해당 여부 질의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82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104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7" grpId="0" animBg="1"/>
      <p:bldP spid="9" grpId="0" animBg="1"/>
      <p:bldP spid="11" grpId="0" animBg="1"/>
    </p:bld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4B69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61320" y="2743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7A7566"/>
                </a:solidFill>
                <a:latin typeface="Apple SD Gothic Neo"/>
                <a:ea typeface="Apple SD Gothic Neo"/>
                <a:cs typeface="Apple SD Gothic Neo"/>
              </a:rPr>
              <a:t>12 /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4B6936"/>
                </a:solidFill>
                <a:latin typeface="Apple SD Gothic Neo"/>
                <a:ea typeface="Apple SD Gothic Neo"/>
                <a:cs typeface="Apple SD Gothic Neo"/>
              </a:rPr>
              <a:t>지금 열어 보실 수 있습니다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758952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5800" b="1">
                <a:solidFill>
                  <a:srgbClr val="324326"/>
                </a:solidFill>
                <a:latin typeface="Apple SD Gothic Neo"/>
                <a:ea typeface="Apple SD Gothic Neo"/>
                <a:cs typeface="Apple SD Gothic Neo"/>
              </a:rPr>
              <a:t>harucharim.com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108960"/>
            <a:ext cx="73152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200" b="0">
                <a:solidFill>
                  <a:srgbClr val="4B6936"/>
                </a:solidFill>
                <a:latin typeface="Apple SD Gothic Neo"/>
                <a:ea typeface="Apple SD Gothic Neo"/>
                <a:cs typeface="Apple SD Gothic Neo"/>
              </a:rPr>
              <a:t>●  </a:t>
            </a:r>
            <a:r>
              <a:rPr sz="1700" b="0">
                <a:solidFill>
                  <a:srgbClr val="282621"/>
                </a:solidFill>
                <a:latin typeface="Apple SD Gothic Neo"/>
                <a:ea typeface="Apple SD Gothic Neo"/>
                <a:cs typeface="Apple SD Gothic Neo"/>
              </a:rPr>
              <a:t>지금은 모든 기능 무료 · 광고 없음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200" b="0">
                <a:solidFill>
                  <a:srgbClr val="4B6936"/>
                </a:solidFill>
                <a:latin typeface="Apple SD Gothic Neo"/>
                <a:ea typeface="Apple SD Gothic Neo"/>
                <a:cs typeface="Apple SD Gothic Neo"/>
              </a:rPr>
              <a:t>●  </a:t>
            </a:r>
            <a:r>
              <a:rPr sz="1700" b="0">
                <a:solidFill>
                  <a:srgbClr val="282621"/>
                </a:solidFill>
                <a:latin typeface="Apple SD Gothic Neo"/>
                <a:ea typeface="Apple SD Gothic Neo"/>
                <a:cs typeface="Apple SD Gothic Neo"/>
              </a:rPr>
              <a:t>식품이나 보충제를 팔지 않습니다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200" b="0">
                <a:solidFill>
                  <a:srgbClr val="4B6936"/>
                </a:solidFill>
                <a:latin typeface="Apple SD Gothic Neo"/>
                <a:ea typeface="Apple SD Gothic Neo"/>
                <a:cs typeface="Apple SD Gothic Neo"/>
              </a:rPr>
              <a:t>●  </a:t>
            </a:r>
            <a:r>
              <a:rPr sz="1700" b="0">
                <a:solidFill>
                  <a:srgbClr val="282621"/>
                </a:solidFill>
                <a:latin typeface="Apple SD Gothic Neo"/>
                <a:ea typeface="Apple SD Gothic Neo"/>
                <a:cs typeface="Apple SD Gothic Neo"/>
              </a:rPr>
              <a:t>구글 플레이 출시 준비 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846320"/>
            <a:ext cx="71323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00" b="0">
                <a:solidFill>
                  <a:srgbClr val="7A7566"/>
                </a:solidFill>
                <a:latin typeface="Apple SD Gothic Neo"/>
                <a:ea typeface="Apple SD Gothic Neo"/>
                <a:cs typeface="Apple SD Gothic Neo"/>
              </a:rPr>
              <a:t>하루차림은 의료기기가 아니며 진단·치료를 목적으로 하지 않습니다. 치료에 관한 판단은 반드시 담당 의료진과 상의하십시오.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458200" y="1417320"/>
            <a:ext cx="3017520" cy="3429000"/>
          </a:xfrm>
          <a:prstGeom prst="roundRect">
            <a:avLst>
              <a:gd name="adj" fmla="val 6000"/>
            </a:avLst>
          </a:prstGeom>
          <a:solidFill>
            <a:srgbClr val="FAF9F4"/>
          </a:solidFill>
          <a:ln w="15875">
            <a:solidFill>
              <a:srgbClr val="E2DF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q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0" y="1645920"/>
            <a:ext cx="2560320" cy="25603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458200" y="4343400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48453C"/>
                </a:solidFill>
                <a:latin typeface="Apple SD Gothic Neo"/>
                <a:ea typeface="Apple SD Gothic Neo"/>
                <a:cs typeface="Apple SD Gothic Neo"/>
              </a:rPr>
              <a:t>harucharim.com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10" grpId="0" animBg="1"/>
      <p:bldP spid="6" grpId="0" animBg="1"/>
      <p:bldP spid="7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