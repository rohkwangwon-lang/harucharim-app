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498079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8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그 이야기,</a:t>
            </a:r>
          </a:p>
          <a:p>
            <a:pPr algn="l" eaLnBrk="0">
              <a:lnSpc>
                <a:spcPct val="100000"/>
              </a:lnSpc>
            </a:pPr>
            <a:r>
              <a:rPr sz="8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정말일까요?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7498079" cy="1030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30000"/>
              </a:lnSpc>
            </a:pP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암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치료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중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음식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이야기,</a:t>
            </a:r>
          </a:p>
          <a:p>
            <a:pPr algn="l" eaLnBrk="0">
              <a:lnSpc>
                <a:spcPct val="130000"/>
              </a:lnSpc>
            </a:pP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논문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원문으로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확인했습니다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5358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700" b="1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  <a:r>
              <a:rPr sz="1700" b="1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700" b="1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harucharim.com</a:t>
            </a:r>
          </a:p>
        </p:txBody>
      </p:sp>
      <p:pic>
        <p:nvPicPr>
          <p:cNvPr id="7" name="Picture 6" descr="bow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3679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슬라이드</a:t>
            </a: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쇼에서</a:t>
            </a: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클릭하거나</a:t>
            </a: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→</a:t>
            </a: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키로</a:t>
            </a: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넘깁니다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05000"/>
              </a:lnSpc>
            </a:pPr>
            <a:r>
              <a:rPr sz="56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진료 시간에 다 여쭤보기</a:t>
            </a:r>
          </a:p>
          <a:p>
            <a:pPr algn="l" eaLnBrk="0">
              <a:lnSpc>
                <a:spcPct val="105000"/>
              </a:lnSpc>
            </a:pPr>
            <a:r>
              <a:rPr sz="56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어려웠던 이야기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30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30000"/>
              </a:lnSpc>
            </a:pP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대부분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걱정과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정성에서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나온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말입니다.</a:t>
            </a:r>
          </a:p>
          <a:p>
            <a:pPr algn="l" eaLnBrk="0">
              <a:lnSpc>
                <a:spcPct val="130000"/>
              </a:lnSpc>
            </a:pP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확인해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보니,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답은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네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갈래였습니다.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30624"/>
            <a:ext cx="4023360" cy="777240"/>
          </a:xfrm>
          <a:prstGeom prst="roundRect">
            <a:avLst>
              <a:gd name="adj" fmla="val 15000"/>
            </a:avLst>
          </a:prstGeom>
          <a:solidFill>
            <a:srgbClr val="E6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05840" y="4564380"/>
            <a:ext cx="109728" cy="109728"/>
          </a:xfrm>
          <a:prstGeom prst="ellipse">
            <a:avLst/>
          </a:prstGeom>
          <a:solidFill>
            <a:srgbClr val="4B6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4230624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끊지</a:t>
            </a:r>
            <a:r>
              <a:rPr sz="2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않으셔도</a:t>
            </a:r>
            <a:r>
              <a:rPr sz="2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4230624"/>
            <a:ext cx="4023360" cy="777240"/>
          </a:xfrm>
          <a:prstGeom prst="roundRect">
            <a:avLst>
              <a:gd name="adj" fmla="val 15000"/>
            </a:avLst>
          </a:prstGeom>
          <a:solidFill>
            <a:srgbClr val="F4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212080" y="4564380"/>
            <a:ext cx="109728" cy="109728"/>
          </a:xfrm>
          <a:prstGeom prst="ellipse">
            <a:avLst/>
          </a:prstGeom>
          <a:solidFill>
            <a:srgbClr val="875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4230624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2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조심하실</a:t>
            </a:r>
            <a:r>
              <a:rPr sz="22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90744"/>
            <a:ext cx="4023360" cy="777240"/>
          </a:xfrm>
          <a:prstGeom prst="roundRect">
            <a:avLst>
              <a:gd name="adj" fmla="val 15000"/>
            </a:avLst>
          </a:prstGeom>
          <a:solidFill>
            <a:srgbClr val="F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05840" y="5524500"/>
            <a:ext cx="109728" cy="109728"/>
          </a:xfrm>
          <a:prstGeom prst="ellipse">
            <a:avLst/>
          </a:prstGeom>
          <a:solidFill>
            <a:srgbClr val="7A3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5190744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2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몰라서</a:t>
            </a:r>
            <a:r>
              <a:rPr sz="22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놓치기</a:t>
            </a:r>
            <a:r>
              <a:rPr sz="22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쉬운</a:t>
            </a:r>
            <a:r>
              <a:rPr sz="22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5190744"/>
            <a:ext cx="4023360" cy="777240"/>
          </a:xfrm>
          <a:prstGeom prst="roundRect">
            <a:avLst>
              <a:gd name="adj" fmla="val 15000"/>
            </a:avLst>
          </a:prstGeom>
          <a:solidFill>
            <a:srgbClr val="E5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212080" y="5524500"/>
            <a:ext cx="109728" cy="109728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5190744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200" b="1">
                <a:solidFill>
                  <a:srgbClr val="5E6B78"/>
                </a:solidFill>
                <a:latin typeface="Apple SD Gothic Neo"/>
                <a:ea typeface="Apple SD Gothic Neo"/>
                <a:cs typeface="Apple SD Gothic Neo"/>
              </a:rPr>
              <a:t>아직</a:t>
            </a:r>
            <a:r>
              <a:rPr sz="2200" b="1">
                <a:solidFill>
                  <a:srgbClr val="5E6B78"/>
                </a:solidFill>
                <a:latin typeface="Apple SD Gothic Neo"/>
                <a:ea typeface="Apple SD Gothic Neo"/>
                <a:cs typeface="Apple SD Gothic Neo"/>
              </a:rPr>
              <a:t> 모르는</a:t>
            </a:r>
            <a:r>
              <a:rPr sz="2200" b="1">
                <a:solidFill>
                  <a:srgbClr val="5E6B78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53414"/>
            <a:ext cx="2472055" cy="431800"/>
          </a:xfrm>
          <a:prstGeom prst="roundRect">
            <a:avLst>
              <a:gd name="adj" fmla="val 50000"/>
            </a:avLst>
          </a:prstGeom>
          <a:solidFill>
            <a:srgbClr val="E6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2876" y="1109941"/>
            <a:ext cx="118745" cy="118745"/>
          </a:xfrm>
          <a:prstGeom prst="ellipse">
            <a:avLst/>
          </a:prstGeom>
          <a:solidFill>
            <a:srgbClr val="4B6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1349" y="953414"/>
            <a:ext cx="2472055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7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끊지</a:t>
            </a:r>
            <a:r>
              <a:rPr sz="17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않으셔도</a:t>
            </a:r>
            <a:r>
              <a:rPr sz="17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23262"/>
            <a:ext cx="3301898" cy="54864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297582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9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두부·된장·두유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2254"/>
            <a:ext cx="3576218" cy="6705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48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9,514</a:t>
            </a:r>
            <a:r>
              <a:rPr sz="19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01414"/>
            <a:ext cx="3301898" cy="4462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끊지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않으셔도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84801"/>
            <a:ext cx="3301898" cy="7254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이소플라본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하루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mg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이상,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재발</a:t>
            </a:r>
            <a:br/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%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낮은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4898" y="2023262"/>
            <a:ext cx="3301898" cy="54864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44898" y="2297582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9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생과일·생채소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898" y="3102254"/>
            <a:ext cx="3576218" cy="6705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48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  <a:r>
              <a:rPr sz="19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편 </a:t>
            </a:r>
            <a:r>
              <a:rPr sz="48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sz="48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1,114</a:t>
            </a:r>
            <a:r>
              <a:rPr sz="19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898" y="4001414"/>
            <a:ext cx="3301898" cy="4462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잘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씻어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드시면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4898" y="4584801"/>
            <a:ext cx="3301898" cy="7254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새싹채소만은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익혀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드세요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8276" y="2023262"/>
            <a:ext cx="3301898" cy="54864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58276" y="2297582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9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단백질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2754782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6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체중</a:t>
            </a:r>
            <a:r>
              <a:rPr sz="16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1</a:t>
            </a:r>
            <a:r>
              <a:rPr sz="16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kg당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3102254"/>
            <a:ext cx="3576218" cy="6705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48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48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~</a:t>
            </a:r>
            <a:r>
              <a:rPr sz="48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1.5</a:t>
            </a:r>
            <a:r>
              <a:rPr sz="19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4001414"/>
            <a:ext cx="3301898" cy="4462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오히려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넉넉히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드세요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8276" y="4584801"/>
            <a:ext cx="3301898" cy="7254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줄이실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것은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가공육입니다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245352"/>
            <a:ext cx="10728655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6336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끊지</a:t>
            </a: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않으셔도</a:t>
            </a: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됩니다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6336792"/>
            <a:ext cx="7711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9,514명: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중국·미국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유방암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환자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연구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6편·1,114명: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‘호중구감소증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식단’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분석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1~1.5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g: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유럽임상영양대사학회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875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84986"/>
            <a:ext cx="1586865" cy="431800"/>
          </a:xfrm>
          <a:prstGeom prst="roundRect">
            <a:avLst>
              <a:gd name="adj" fmla="val 50000"/>
            </a:avLst>
          </a:prstGeom>
          <a:solidFill>
            <a:srgbClr val="F4E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2876" y="1241513"/>
            <a:ext cx="118745" cy="118745"/>
          </a:xfrm>
          <a:prstGeom prst="ellipse">
            <a:avLst/>
          </a:prstGeom>
          <a:solidFill>
            <a:srgbClr val="875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1349" y="1084986"/>
            <a:ext cx="1586865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7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조심하실</a:t>
            </a:r>
            <a:r>
              <a:rPr sz="17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54834"/>
            <a:ext cx="5158587" cy="54864"/>
          </a:xfrm>
          <a:prstGeom prst="rect">
            <a:avLst/>
          </a:prstGeom>
          <a:solidFill>
            <a:srgbClr val="875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429154"/>
            <a:ext cx="515858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9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고용량</a:t>
            </a:r>
            <a:r>
              <a:rPr sz="19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 항산화</a:t>
            </a:r>
            <a:r>
              <a:rPr sz="19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 영양제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6354"/>
            <a:ext cx="5432907" cy="1117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8000" b="1">
                <a:solidFill>
                  <a:srgbClr val="6B3F1A"/>
                </a:solidFill>
                <a:latin typeface="Apple SD Gothic Neo"/>
                <a:ea typeface="Apple SD Gothic Neo"/>
                <a:cs typeface="Apple SD Gothic Neo"/>
              </a:rPr>
              <a:t>2.9</a:t>
            </a:r>
            <a:r>
              <a:rPr sz="24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32554"/>
            <a:ext cx="5158587" cy="4462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치료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중에는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권하지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15941"/>
            <a:ext cx="5158587" cy="3627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보충한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기간에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이차암이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2.9배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(540명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시험)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1587" y="2154834"/>
            <a:ext cx="5158587" cy="54864"/>
          </a:xfrm>
          <a:prstGeom prst="rect">
            <a:avLst/>
          </a:prstGeom>
          <a:solidFill>
            <a:srgbClr val="875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1587" y="2429154"/>
            <a:ext cx="515858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9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자몽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2886354"/>
            <a:ext cx="5432907" cy="1117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8000" b="1">
                <a:solidFill>
                  <a:srgbClr val="6B3F1A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  <a:r>
              <a:rPr sz="24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4232554"/>
            <a:ext cx="5158587" cy="4462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시간을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띄워도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남습니다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4815941"/>
            <a:ext cx="5158587" cy="3627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24시간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뒤에도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4분의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1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드시는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약을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확인하세요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45352"/>
            <a:ext cx="10728655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6336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0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조심하실</a:t>
            </a:r>
            <a:r>
              <a:rPr sz="10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6336792"/>
            <a:ext cx="7711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음식으로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드시는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채소·과일은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다른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이야기입니다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라임·포멜로도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자몽과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같습니다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7A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59510"/>
            <a:ext cx="2536825" cy="431800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2876" y="1116037"/>
            <a:ext cx="118745" cy="118745"/>
          </a:xfrm>
          <a:prstGeom prst="ellipse">
            <a:avLst/>
          </a:prstGeom>
          <a:solidFill>
            <a:srgbClr val="7A3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1349" y="959510"/>
            <a:ext cx="2536825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7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몰라서</a:t>
            </a:r>
            <a:r>
              <a:rPr sz="17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놓치기</a:t>
            </a:r>
            <a:r>
              <a:rPr sz="17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쉬운</a:t>
            </a:r>
            <a:r>
              <a:rPr sz="17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2664" y="904646"/>
            <a:ext cx="7917510" cy="5232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32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위 수술을 받으셨다면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358"/>
            <a:ext cx="5158587" cy="54864"/>
          </a:xfrm>
          <a:prstGeom prst="rect">
            <a:avLst/>
          </a:prstGeom>
          <a:solidFill>
            <a:srgbClr val="7A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303678"/>
            <a:ext cx="515858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9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비타민</a:t>
            </a:r>
            <a:r>
              <a:rPr sz="19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B12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60878"/>
            <a:ext cx="5432907" cy="10058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7200" b="1">
                <a:solidFill>
                  <a:srgbClr val="5E2A33"/>
                </a:solidFill>
                <a:latin typeface="Apple SD Gothic Neo"/>
                <a:ea typeface="Apple SD Gothic Neo"/>
                <a:cs typeface="Apple SD Gothic Neo"/>
              </a:rPr>
              <a:t>500</a:t>
            </a:r>
            <a:r>
              <a:rPr sz="72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~</a:t>
            </a:r>
            <a:r>
              <a:rPr sz="7200" b="1">
                <a:solidFill>
                  <a:srgbClr val="5E2A33"/>
                </a:solidFill>
                <a:latin typeface="Apple SD Gothic Neo"/>
                <a:ea typeface="Apple SD Gothic Neo"/>
                <a:cs typeface="Apple SD Gothic Neo"/>
              </a:rPr>
              <a:t>1,500</a:t>
            </a:r>
            <a:r>
              <a:rPr sz="22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µg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95318"/>
            <a:ext cx="5158587" cy="4462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평생,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따로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챙기셔야</a:t>
            </a: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8705"/>
            <a:ext cx="5158587" cy="7254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주사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또는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하루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500~1,500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µg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—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담당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의료진과</a:t>
            </a:r>
            <a:br/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정하세요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1587" y="2029358"/>
            <a:ext cx="5158587" cy="54864"/>
          </a:xfrm>
          <a:prstGeom prst="rect">
            <a:avLst/>
          </a:prstGeom>
          <a:solidFill>
            <a:srgbClr val="7A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1587" y="2303678"/>
            <a:ext cx="515858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9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간식으로</a:t>
            </a:r>
            <a:r>
              <a:rPr sz="19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드실</a:t>
            </a:r>
            <a:r>
              <a:rPr sz="19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2760878"/>
            <a:ext cx="5432907" cy="10058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7200" b="1">
                <a:solidFill>
                  <a:srgbClr val="5E2A33"/>
                </a:solidFill>
                <a:latin typeface="Apple SD Gothic Neo"/>
                <a:ea typeface="Apple SD Gothic Neo"/>
                <a:cs typeface="Apple SD Gothic Neo"/>
              </a:rPr>
              <a:t>감·곶감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3995318"/>
            <a:ext cx="5158587" cy="4462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조심하세요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4578705"/>
            <a:ext cx="5158587" cy="7254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위에서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덩어리(위석)가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될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수</a:t>
            </a:r>
            <a:r>
              <a:rPr sz="17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있습니다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245352"/>
            <a:ext cx="10728655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6336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0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몰라서</a:t>
            </a:r>
            <a:r>
              <a:rPr sz="10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놓치기</a:t>
            </a:r>
            <a:r>
              <a:rPr sz="10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쉬운</a:t>
            </a:r>
            <a:r>
              <a:rPr sz="1000" b="1">
                <a:solidFill>
                  <a:srgbClr val="7A3B45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6336792"/>
            <a:ext cx="7711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위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전절제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뒤에는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B12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흡수에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필요한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물질이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없어집니다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종합비타민은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제품마다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양이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다릅니다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5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856740" cy="431800"/>
          </a:xfrm>
          <a:prstGeom prst="roundRect">
            <a:avLst>
              <a:gd name="adj" fmla="val 50000"/>
            </a:avLst>
          </a:prstGeom>
          <a:solidFill>
            <a:srgbClr val="E5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2876" y="1436687"/>
            <a:ext cx="118745" cy="118745"/>
          </a:xfrm>
          <a:prstGeom prst="ellipse">
            <a:avLst/>
          </a:prstGeom>
          <a:solidFill>
            <a:srgbClr val="5E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1349" y="1280160"/>
            <a:ext cx="1856740" cy="431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700" b="1">
                <a:solidFill>
                  <a:srgbClr val="5E6B78"/>
                </a:solidFill>
                <a:latin typeface="Apple SD Gothic Neo"/>
                <a:ea typeface="Apple SD Gothic Neo"/>
                <a:cs typeface="Apple SD Gothic Neo"/>
              </a:rPr>
              <a:t>아직</a:t>
            </a:r>
            <a:r>
              <a:rPr sz="1700" b="1">
                <a:solidFill>
                  <a:srgbClr val="5E6B78"/>
                </a:solidFill>
                <a:latin typeface="Apple SD Gothic Neo"/>
                <a:ea typeface="Apple SD Gothic Neo"/>
                <a:cs typeface="Apple SD Gothic Neo"/>
              </a:rPr>
              <a:t> 모르는</a:t>
            </a:r>
            <a:r>
              <a:rPr sz="1700" b="1">
                <a:solidFill>
                  <a:srgbClr val="5E6B78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58568"/>
            <a:ext cx="10698480" cy="1325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9600" b="1">
                <a:solidFill>
                  <a:srgbClr val="46515C"/>
                </a:solidFill>
                <a:latin typeface="Apple SD Gothic Neo"/>
                <a:ea typeface="Apple SD Gothic Neo"/>
                <a:cs typeface="Apple SD Gothic Neo"/>
              </a:rPr>
              <a:t>아직 모릅니다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04487"/>
            <a:ext cx="10515600" cy="515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30000"/>
              </a:lnSpc>
            </a:pP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칡즙·로열젤리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—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호르몬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양성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유방암이라면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‘주의’로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둡니다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02480"/>
            <a:ext cx="10515600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해롭다는</a:t>
            </a: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근거가</a:t>
            </a: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있어서가</a:t>
            </a: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아니라,</a:t>
            </a: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근거가</a:t>
            </a: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없어서입니다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45352"/>
            <a:ext cx="10728655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6336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000" b="1">
                <a:solidFill>
                  <a:srgbClr val="5E6B78"/>
                </a:solidFill>
                <a:latin typeface="Apple SD Gothic Neo"/>
                <a:ea typeface="Apple SD Gothic Neo"/>
                <a:cs typeface="Apple SD Gothic Neo"/>
              </a:rPr>
              <a:t>아직</a:t>
            </a:r>
            <a:r>
              <a:rPr sz="1000" b="1">
                <a:solidFill>
                  <a:srgbClr val="5E6B78"/>
                </a:solidFill>
                <a:latin typeface="Apple SD Gothic Neo"/>
                <a:ea typeface="Apple SD Gothic Neo"/>
                <a:cs typeface="Apple SD Gothic Neo"/>
              </a:rPr>
              <a:t> 모르는</a:t>
            </a:r>
            <a:r>
              <a:rPr sz="1000" b="1">
                <a:solidFill>
                  <a:srgbClr val="5E6B78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6336792"/>
            <a:ext cx="7711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칡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전분으로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만든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냉면·묵은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해당하지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않습니다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46225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어떻게</a:t>
            </a: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확인했나요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57705"/>
            <a:ext cx="10698480" cy="18668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140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  <a:r>
              <a:rPr sz="40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53206"/>
            <a:ext cx="10515600" cy="1030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30000"/>
              </a:lnSpc>
            </a:pP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참고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문헌을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원문으로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찾아,</a:t>
            </a:r>
          </a:p>
          <a:p>
            <a:pPr algn="l" eaLnBrk="0">
              <a:lnSpc>
                <a:spcPct val="130000"/>
              </a:lnSpc>
            </a:pP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앱의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문장과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한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줄씩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맞춰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보았습니다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66310"/>
            <a:ext cx="10515600" cy="588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문장마다</a:t>
            </a: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근거</a:t>
            </a: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등급(A·B·C·G)을</a:t>
            </a: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붙이고,</a:t>
            </a: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모르는</a:t>
            </a: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것은</a:t>
            </a: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“아직</a:t>
            </a: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모릅니다”라고</a:t>
            </a: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적었습니다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45352"/>
            <a:ext cx="10728655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6336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6336792"/>
            <a:ext cx="7711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무작위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시험·메타분석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B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큰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관찰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연구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C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적거나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간접적인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근거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G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학회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지침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647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얼마나</a:t>
            </a: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시험했나요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7958"/>
            <a:ext cx="10698480" cy="176021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132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2,363,971</a:t>
            </a:r>
            <a:r>
              <a:rPr sz="40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76777"/>
            <a:ext cx="10515600" cy="1030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30000"/>
              </a:lnSpc>
            </a:pP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가상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환자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2,000명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×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90일의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추천을</a:t>
            </a:r>
          </a:p>
          <a:p>
            <a:pPr algn="l" eaLnBrk="0">
              <a:lnSpc>
                <a:spcPct val="130000"/>
              </a:lnSpc>
            </a:pP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하나하나</a:t>
            </a:r>
            <a:r>
              <a:rPr sz="26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검사했습니다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81322"/>
            <a:ext cx="10728655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4664202"/>
            <a:ext cx="15240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7200" b="1">
                <a:solidFill>
                  <a:srgbClr val="875326"/>
                </a:solidFill>
                <a:latin typeface="Apple SD Gothic Neo"/>
                <a:ea typeface="Apple SD Gothic Neo"/>
                <a:cs typeface="Apple SD Gothic Neo"/>
              </a:rPr>
              <a:t>0</a:t>
            </a:r>
            <a:r>
              <a:rPr sz="24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489280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6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피해야</a:t>
            </a:r>
            <a:r>
              <a:rPr sz="26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할</a:t>
            </a:r>
            <a:r>
              <a:rPr sz="26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것을</a:t>
            </a:r>
            <a:r>
              <a:rPr sz="26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권한</a:t>
            </a:r>
            <a:r>
              <a:rPr sz="26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경우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45352"/>
            <a:ext cx="10728655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6336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6336792"/>
            <a:ext cx="7711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가상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환자로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돌린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검사입니다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·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실제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환자의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결과가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아닙니다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0301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꼭</a:t>
            </a: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말씀드릴</a:t>
            </a: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51660"/>
            <a:ext cx="64008" cy="14173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1897379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46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치료를 대신하지 않습니다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203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모든</a:t>
            </a: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안내는</a:t>
            </a: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“담당</a:t>
            </a: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의료진과</a:t>
            </a: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상의하세요”로</a:t>
            </a: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끝납니다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43300"/>
            <a:ext cx="64008" cy="14173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35890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46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기록은 기기 안에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119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입력하신</a:t>
            </a: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기록은</a:t>
            </a: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기기</a:t>
            </a: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안에</a:t>
            </a:r>
            <a:r>
              <a:rPr sz="2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저장됩니다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45352"/>
            <a:ext cx="10728655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6336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6336792"/>
            <a:ext cx="77111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하루차림은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의료기기가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아니며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진단·치료를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목적으로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하지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않습니다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362895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eaLnBrk="0">
              <a:lnSpc>
                <a:spcPct val="122000"/>
              </a:lnSpc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22000"/>
              </a:lnSpc>
            </a:pP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휴대폰</a:t>
            </a: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카메라로</a:t>
            </a: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찍으시면</a:t>
            </a: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바로</a:t>
            </a:r>
            <a:r>
              <a:rPr sz="16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 열립니다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00000"/>
              </a:lnSpc>
            </a:pPr>
            <a:r>
              <a:rPr sz="6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harucharim.com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6949440" cy="987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35000"/>
              </a:lnSpc>
            </a:pP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암종·치료</a:t>
            </a: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단계·드시는</a:t>
            </a: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약에</a:t>
            </a: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맞춰</a:t>
            </a:r>
          </a:p>
          <a:p>
            <a:pPr algn="l" eaLnBrk="0">
              <a:lnSpc>
                <a:spcPct val="135000"/>
              </a:lnSpc>
            </a:pP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하루</a:t>
            </a: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세</a:t>
            </a: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끼</a:t>
            </a: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한식</a:t>
            </a: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상차림을</a:t>
            </a:r>
            <a:r>
              <a:rPr sz="24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 추천합니다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90872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eaLnBrk="0">
              <a:lnSpc>
                <a:spcPct val="140000"/>
              </a:lnSpc>
            </a:pP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이</a:t>
            </a: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자료는</a:t>
            </a: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일반</a:t>
            </a: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정보입니다.</a:t>
            </a: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개인의</a:t>
            </a: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치료와</a:t>
            </a: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식사는</a:t>
            </a: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담당</a:t>
            </a: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의료진과</a:t>
            </a: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 정하십시오.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600200"/>
            <a:ext cx="3090672" cy="3547872"/>
          </a:xfrm>
          <a:prstGeom prst="roundRect">
            <a:avLst>
              <a:gd name="adj" fmla="val 6000"/>
            </a:avLst>
          </a:prstGeom>
          <a:solidFill>
            <a:srgbClr val="FAF9F4"/>
          </a:solidFill>
          <a:ln w="9525">
            <a:solidFill>
              <a:srgbClr val="E2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0"/>
            <a:ext cx="2633472" cy="2633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66760" y="459943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eaLnBrk="0">
              <a:lnSpc>
                <a:spcPct val="122000"/>
              </a:lnSpc>
            </a:pPr>
            <a:r>
              <a:rPr sz="16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harucharim.com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ple SD Gothic Neo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ple SD Gothic Neo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 이야기, 정말일까요 — 하루차림</dc:title>
  <dc:subject/>
  <dc:creator>하루차림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