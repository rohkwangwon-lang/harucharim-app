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1668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환자·가족과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함께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보는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자료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2026년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10월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6949440" cy="2194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5000"/>
              </a:lnSpc>
            </a:pPr>
            <a:r>
              <a:rPr sz="6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그 이야기,</a:t>
            </a:r>
          </a:p>
          <a:p>
            <a:pPr algn="l" eaLnBrk="0">
              <a:lnSpc>
                <a:spcPct val="105000"/>
              </a:lnSpc>
            </a:pPr>
            <a:r>
              <a:rPr sz="6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정말일까요?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77640"/>
            <a:ext cx="69494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20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암</a:t>
            </a:r>
            <a:r>
              <a:rPr sz="20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치료</a:t>
            </a:r>
            <a:r>
              <a:rPr sz="20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중</a:t>
            </a:r>
            <a:r>
              <a:rPr sz="20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음식에</a:t>
            </a:r>
            <a:r>
              <a:rPr sz="20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관해</a:t>
            </a:r>
            <a:r>
              <a:rPr sz="20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전해</a:t>
            </a:r>
            <a:r>
              <a:rPr sz="20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내려오는</a:t>
            </a:r>
            <a:r>
              <a:rPr sz="20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이야기를</a:t>
            </a:r>
          </a:p>
          <a:p>
            <a:pPr algn="l" eaLnBrk="0">
              <a:lnSpc>
                <a:spcPct val="140000"/>
              </a:lnSpc>
            </a:pPr>
            <a:r>
              <a:rPr sz="20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논문</a:t>
            </a:r>
            <a:r>
              <a:rPr sz="20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원문으로</a:t>
            </a:r>
            <a:r>
              <a:rPr sz="20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하나씩</a:t>
            </a:r>
            <a:r>
              <a:rPr sz="20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확인했습니다.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12064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2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  <a:r>
              <a:rPr sz="12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2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harucharim.com</a:t>
            </a:r>
            <a:r>
              <a:rPr sz="12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2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방사선종양학과</a:t>
            </a:r>
            <a:r>
              <a:rPr sz="12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전문의가</a:t>
            </a:r>
            <a:r>
              <a:rPr sz="12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만들었습니다</a:t>
            </a:r>
          </a:p>
        </p:txBody>
      </p:sp>
      <p:pic>
        <p:nvPicPr>
          <p:cNvPr id="8" name="Picture 7" descr="bow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828800"/>
            <a:ext cx="3108960" cy="3108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33679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슬라이드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쇼에서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클릭하거나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→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키로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넘깁니다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3336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들어가며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515600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10000"/>
              </a:lnSpc>
            </a:pPr>
            <a:r>
              <a:rPr sz="46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진료 시간에 다 여쭤보기</a:t>
            </a:r>
          </a:p>
          <a:p>
            <a:pPr algn="l" eaLnBrk="0">
              <a:lnSpc>
                <a:spcPct val="110000"/>
              </a:lnSpc>
            </a:pPr>
            <a:r>
              <a:rPr sz="46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어려웠던 이야기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10241280" cy="12047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55000"/>
              </a:lnSpc>
            </a:pP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암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치료를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시작하면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음식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이야기가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쏟아집니다.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같은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병실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환자분께,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먼저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치료받은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친척에게,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인터넷</a:t>
            </a:r>
            <a:br/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카페에서.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대부분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걱정과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정성에서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나온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말입니다.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그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이야기들을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하나씩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확인해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보니,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답은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네</a:t>
            </a:r>
            <a:br/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갈래였습니다.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496562"/>
            <a:ext cx="2531287" cy="1417320"/>
          </a:xfrm>
          <a:prstGeom prst="roundRect">
            <a:avLst>
              <a:gd name="adj" fmla="val 8000"/>
            </a:avLst>
          </a:prstGeom>
          <a:solidFill>
            <a:srgbClr val="E6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960120" y="4798314"/>
            <a:ext cx="91440" cy="91440"/>
          </a:xfrm>
          <a:prstGeom prst="ellipse">
            <a:avLst/>
          </a:prstGeom>
          <a:solidFill>
            <a:srgbClr val="4B6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4697730"/>
            <a:ext cx="1982647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5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끊지</a:t>
            </a:r>
            <a:r>
              <a:rPr sz="15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않으셔도</a:t>
            </a:r>
            <a:r>
              <a:rPr sz="15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090922"/>
            <a:ext cx="2119807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걱정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때문에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피해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오셨지만,</a:t>
            </a:r>
            <a:br/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확인해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보니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그럴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필요가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없던</a:t>
            </a:r>
            <a:br/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것들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3975" y="4496562"/>
            <a:ext cx="2531287" cy="1417320"/>
          </a:xfrm>
          <a:prstGeom prst="roundRect">
            <a:avLst>
              <a:gd name="adj" fmla="val 8000"/>
            </a:avLst>
          </a:prstGeom>
          <a:solidFill>
            <a:srgbClr val="F4E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3692575" y="4798314"/>
            <a:ext cx="91440" cy="91440"/>
          </a:xfrm>
          <a:prstGeom prst="ellipse">
            <a:avLst/>
          </a:prstGeom>
          <a:solidFill>
            <a:srgbClr val="875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75455" y="4697730"/>
            <a:ext cx="1982647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5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조심하실</a:t>
            </a:r>
            <a:r>
              <a:rPr sz="15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2575" y="5090922"/>
            <a:ext cx="2119807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“몸에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좋다니까”,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“조금은</a:t>
            </a:r>
            <a:br/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괜찮겠지”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하기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쉬운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것들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6431" y="4496562"/>
            <a:ext cx="2531287" cy="1417320"/>
          </a:xfrm>
          <a:prstGeom prst="roundRect">
            <a:avLst>
              <a:gd name="adj" fmla="val 8000"/>
            </a:avLst>
          </a:prstGeom>
          <a:solidFill>
            <a:srgbClr val="F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6425031" y="4798314"/>
            <a:ext cx="91440" cy="91440"/>
          </a:xfrm>
          <a:prstGeom prst="ellipse">
            <a:avLst/>
          </a:prstGeom>
          <a:solidFill>
            <a:srgbClr val="7A3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7911" y="4697730"/>
            <a:ext cx="1982647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5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몰라서</a:t>
            </a:r>
            <a:r>
              <a:rPr sz="15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놓치기</a:t>
            </a:r>
            <a:r>
              <a:rPr sz="15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쉬운</a:t>
            </a:r>
            <a:r>
              <a:rPr sz="15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5031" y="5090922"/>
            <a:ext cx="2119807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아무도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이야기해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주지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않아서</a:t>
            </a:r>
            <a:br/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모르고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지나가기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쉬운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것들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28887" y="4496562"/>
            <a:ext cx="2531287" cy="1417320"/>
          </a:xfrm>
          <a:prstGeom prst="roundRect">
            <a:avLst>
              <a:gd name="adj" fmla="val 8000"/>
            </a:avLst>
          </a:prstGeom>
          <a:solidFill>
            <a:srgbClr val="E5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9157487" y="4798314"/>
            <a:ext cx="91440" cy="91440"/>
          </a:xfrm>
          <a:prstGeom prst="ellipse">
            <a:avLst/>
          </a:prstGeom>
          <a:solidFill>
            <a:srgbClr val="5E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0367" y="4697730"/>
            <a:ext cx="1982647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5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아직</a:t>
            </a:r>
            <a:r>
              <a:rPr sz="15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 모르는</a:t>
            </a:r>
            <a:r>
              <a:rPr sz="15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7487" y="5090922"/>
            <a:ext cx="2119807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해롭다는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뜻이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아니라,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확인할</a:t>
            </a:r>
            <a:br/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연구가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없다는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뜻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확인해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보니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이랬습니다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—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하나씩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보겠습니다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25004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94472"/>
            <a:ext cx="2077593" cy="365760"/>
          </a:xfrm>
          <a:prstGeom prst="roundRect">
            <a:avLst>
              <a:gd name="adj" fmla="val 50000"/>
            </a:avLst>
          </a:prstGeom>
          <a:solidFill>
            <a:srgbClr val="E6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1636204"/>
            <a:ext cx="82296" cy="82296"/>
          </a:xfrm>
          <a:prstGeom prst="ellipse">
            <a:avLst/>
          </a:prstGeom>
          <a:solidFill>
            <a:srgbClr val="4B6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1494472"/>
            <a:ext cx="1711833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끊지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않으셔도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34552"/>
            <a:ext cx="5440680" cy="12801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96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9,514</a:t>
            </a:r>
            <a:r>
              <a:rPr sz="24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60432"/>
            <a:ext cx="5074920" cy="339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중국·미국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유방암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환자를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함께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분석한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연구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074223"/>
            <a:ext cx="507492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4275391"/>
            <a:ext cx="132283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4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25</a:t>
            </a:r>
            <a:r>
              <a:rPr sz="18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0032" y="4330255"/>
            <a:ext cx="4026408" cy="5760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재발이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낮은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쪽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—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콩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이소플라본을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하루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10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mg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이상</a:t>
            </a:r>
            <a:br/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드신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분들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306372"/>
            <a:ext cx="5196535" cy="3653637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952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6248" y="1598980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들은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이야기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1858060"/>
            <a:ext cx="4611319" cy="8363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“유방암이면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두부·된장·두유를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끊어야</a:t>
            </a:r>
            <a:br/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한대요.”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2877312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확인해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보니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3136391"/>
            <a:ext cx="4611319" cy="6504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끊지</a:t>
            </a: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않으셔도</a:t>
            </a: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됩니다.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사람을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대상으로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한</a:t>
            </a:r>
            <a:br/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연구는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오히려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반대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방향을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가리킵니다.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6248" y="3969715"/>
            <a:ext cx="4611319" cy="743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타목시펜을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드시는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분도,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안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드시는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분도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같은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방향이었습니다(상하이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5,042명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연구).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다만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이소플라본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농축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보충제는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음식과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따로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봅니다.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끊지</a:t>
            </a: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않으셔도</a:t>
            </a: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됩니다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중국·미국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유방암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환자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9,514명을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함께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분석한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연구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상하이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5,042명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연구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6672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04747"/>
            <a:ext cx="2077593" cy="365760"/>
          </a:xfrm>
          <a:prstGeom prst="roundRect">
            <a:avLst>
              <a:gd name="adj" fmla="val 50000"/>
            </a:avLst>
          </a:prstGeom>
          <a:solidFill>
            <a:srgbClr val="E6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1546479"/>
            <a:ext cx="82296" cy="82296"/>
          </a:xfrm>
          <a:prstGeom prst="ellipse">
            <a:avLst/>
          </a:prstGeom>
          <a:solidFill>
            <a:srgbClr val="4B6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1404747"/>
            <a:ext cx="1711833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끊지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않으셔도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44827"/>
            <a:ext cx="5440680" cy="112014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8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6</a:t>
            </a:r>
            <a:r>
              <a:rPr sz="24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편 </a:t>
            </a:r>
            <a:r>
              <a:rPr sz="84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·</a:t>
            </a:r>
            <a:r>
              <a:rPr sz="8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1,114</a:t>
            </a:r>
            <a:r>
              <a:rPr sz="24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10687"/>
            <a:ext cx="5074920" cy="6789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을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모은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분석에서,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이른바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‘호중구감소증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식단’이</a:t>
            </a:r>
            <a:br/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감염을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줄인다는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근거는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확인되지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않았습니다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163949"/>
            <a:ext cx="507492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4365117"/>
            <a:ext cx="203073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4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2022</a:t>
            </a:r>
            <a:r>
              <a:rPr sz="18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87930" y="4419981"/>
            <a:ext cx="3318510" cy="5760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미국임상종양학회도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해의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지침에서</a:t>
            </a:r>
            <a:br/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권하지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않았습니다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306372"/>
            <a:ext cx="5196535" cy="3653637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952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6248" y="1598980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들은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이야기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1858060"/>
            <a:ext cx="4611319" cy="8363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“항암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중에는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생과일·생채소를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먹으면</a:t>
            </a:r>
            <a:br/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안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된대요.”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2877312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확인해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보니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3136391"/>
            <a:ext cx="4611319" cy="6504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흐르는</a:t>
            </a: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물에</a:t>
            </a: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잘</a:t>
            </a: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씻어</a:t>
            </a: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드시면</a:t>
            </a: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됩니다.</a:t>
            </a:r>
            <a:br/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새싹채소만은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익혀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드세요.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6248" y="3969715"/>
            <a:ext cx="4611319" cy="743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숙주·알팔파·브로콜리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새싹은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씻어도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세균이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남을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수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있어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데치거나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볶아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드세요.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담당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의료진이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따로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정해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주신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기준(예: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조혈모세포이식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병동)이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있으면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그것을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먼저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따르세요.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끊지</a:t>
            </a: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않으셔도</a:t>
            </a: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됩니다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6편·1,114명을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모은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분석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미국임상종양학회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2022년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지침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8340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9880"/>
            <a:ext cx="2077593" cy="365760"/>
          </a:xfrm>
          <a:prstGeom prst="roundRect">
            <a:avLst>
              <a:gd name="adj" fmla="val 50000"/>
            </a:avLst>
          </a:prstGeom>
          <a:solidFill>
            <a:srgbClr val="E6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1471612"/>
            <a:ext cx="82296" cy="82296"/>
          </a:xfrm>
          <a:prstGeom prst="ellipse">
            <a:avLst/>
          </a:prstGeom>
          <a:solidFill>
            <a:srgbClr val="4B6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1329880"/>
            <a:ext cx="1711833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끊지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않으셔도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6996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체중</a:t>
            </a:r>
            <a:r>
              <a:rPr sz="1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1</a:t>
            </a:r>
            <a:r>
              <a:rPr sz="1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kg당</a:t>
            </a:r>
            <a:r>
              <a:rPr sz="1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단백질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08288"/>
            <a:ext cx="5440680" cy="12801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96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  <a:r>
              <a:rPr sz="96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~</a:t>
            </a:r>
            <a:r>
              <a:rPr sz="96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1.5</a:t>
            </a:r>
            <a:r>
              <a:rPr sz="24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34168"/>
            <a:ext cx="5074920" cy="339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유럽임상영양대사학회가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암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환자에게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권하는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양입니다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247959"/>
            <a:ext cx="507492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31520" y="4449127"/>
            <a:ext cx="221183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4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60</a:t>
            </a:r>
            <a:r>
              <a:rPr sz="4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~</a:t>
            </a:r>
            <a:r>
              <a:rPr sz="4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90</a:t>
            </a:r>
            <a:r>
              <a:rPr sz="18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69032" y="4643437"/>
            <a:ext cx="3137408" cy="2880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체중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60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kg이면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하루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이만큼입니다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445056"/>
            <a:ext cx="5196535" cy="3411931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952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56248" y="1737664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들은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이야기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1996744"/>
            <a:ext cx="4611319" cy="8363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“암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환자는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고기를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줄여야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한대요.</a:t>
            </a:r>
            <a:br/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간이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나쁘면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더더욱.”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3015996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확인해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보니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6248" y="3275076"/>
            <a:ext cx="4611319" cy="6504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단백질은</a:t>
            </a: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오히려</a:t>
            </a: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평소보다</a:t>
            </a: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넉넉히</a:t>
            </a: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드셔야</a:t>
            </a:r>
            <a:br/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4108399"/>
            <a:ext cx="4611319" cy="501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간경변이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있어도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유럽간학회는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1.2~1.5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g을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권합니다.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줄이실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것은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햄·소시지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같은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가공육이지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단백질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자체가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아닙니다.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끊지</a:t>
            </a: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않으셔도</a:t>
            </a: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됩니다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유럽임상영양대사학회(ESPEN)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유럽간학회(EASL)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50009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457200"/>
            <a:ext cx="2077593" cy="365760"/>
          </a:xfrm>
          <a:prstGeom prst="roundRect">
            <a:avLst>
              <a:gd name="adj" fmla="val 50000"/>
            </a:avLst>
          </a:prstGeom>
          <a:solidFill>
            <a:srgbClr val="E6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598932"/>
            <a:ext cx="82296" cy="82296"/>
          </a:xfrm>
          <a:prstGeom prst="ellipse">
            <a:avLst/>
          </a:prstGeom>
          <a:solidFill>
            <a:srgbClr val="4B6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457200"/>
            <a:ext cx="1711833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끊지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않으셔도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932688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피하실</a:t>
            </a:r>
            <a:r>
              <a:rPr sz="2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이유도,</a:t>
            </a:r>
            <a:r>
              <a:rPr sz="2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일부러</a:t>
            </a:r>
            <a:r>
              <a:rPr sz="2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챙기실</a:t>
            </a:r>
            <a:r>
              <a:rPr sz="2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이유도</a:t>
            </a:r>
            <a:r>
              <a:rPr sz="2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없습니다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36192"/>
            <a:ext cx="5181447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5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석류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5181447" cy="711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5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64</a:t>
            </a:r>
            <a:r>
              <a:rPr sz="20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명 </a:t>
            </a:r>
            <a:r>
              <a:rPr sz="5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·</a:t>
            </a:r>
            <a:r>
              <a:rPr sz="5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  <a:r>
              <a:rPr sz="20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85720"/>
            <a:ext cx="5181447" cy="4648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폐경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후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여성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64명이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석류즙을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3주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마신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연구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—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사람에서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본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것은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이것</a:t>
            </a:r>
            <a:br/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하나뿐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15132"/>
            <a:ext cx="5181447" cy="2696108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952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24128" y="3507739"/>
            <a:ext cx="4596231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들은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이야기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3766820"/>
            <a:ext cx="4596231" cy="3157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“석류는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여성호르몬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과일이라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유방암에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안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좋대요.”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4265472"/>
            <a:ext cx="4596231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확인해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보니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4524552"/>
            <a:ext cx="4596231" cy="297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5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피하지</a:t>
            </a:r>
            <a:r>
              <a:rPr sz="15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않으셔도</a:t>
            </a:r>
            <a:r>
              <a:rPr sz="15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5004612"/>
            <a:ext cx="4596231" cy="6597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혈중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호르몬은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사과즙을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마신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분들과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다르지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않았습니다.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반대로</a:t>
            </a:r>
            <a:br/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유방암에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좋다는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사람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연구도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아직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없습니다.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과일로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드시는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것은</a:t>
            </a:r>
            <a:br/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괜찮고,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주스는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당이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많으니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양을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정해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두세요.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8727" y="1536192"/>
            <a:ext cx="5181447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5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홍삼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8727" y="1828800"/>
            <a:ext cx="5181447" cy="711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5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4,149</a:t>
            </a:r>
            <a:r>
              <a:rPr sz="20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2585720"/>
            <a:ext cx="5181447" cy="2324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상하이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유방암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생존자를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3년간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본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연구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2982722"/>
            <a:ext cx="5181447" cy="2779776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952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571335" y="3275330"/>
            <a:ext cx="4596231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들은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이야기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71335" y="3534410"/>
            <a:ext cx="4596231" cy="6132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“홍삼은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유방암에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나쁘대요.”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“꼭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챙겨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먹어야</a:t>
            </a:r>
            <a:br/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한대요.”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71335" y="4330547"/>
            <a:ext cx="4596231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확인해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보니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71335" y="4589627"/>
            <a:ext cx="4596231" cy="297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5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둘</a:t>
            </a:r>
            <a:r>
              <a:rPr sz="15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다</a:t>
            </a:r>
            <a:r>
              <a:rPr sz="15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근거가</a:t>
            </a:r>
            <a:r>
              <a:rPr sz="15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없습니다.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1335" y="5069687"/>
            <a:ext cx="4596231" cy="4459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인삼을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꾸준히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드신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분과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아닌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분의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삶의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질은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다르지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않았고,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호르몬</a:t>
            </a:r>
            <a:br/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수용체에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따라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달라지지도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않았습니다.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끊지</a:t>
            </a: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않으셔도</a:t>
            </a: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됩니다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와파린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같은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약을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드신다면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석류도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홍삼도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담당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의사에게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알려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주세요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491677" cy="45720"/>
          </a:xfrm>
          <a:prstGeom prst="rect">
            <a:avLst/>
          </a:prstGeom>
          <a:solidFill>
            <a:srgbClr val="875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07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94472"/>
            <a:ext cx="1400682" cy="365760"/>
          </a:xfrm>
          <a:prstGeom prst="roundRect">
            <a:avLst>
              <a:gd name="adj" fmla="val 50000"/>
            </a:avLst>
          </a:prstGeom>
          <a:solidFill>
            <a:srgbClr val="F4E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1636204"/>
            <a:ext cx="82296" cy="82296"/>
          </a:xfrm>
          <a:prstGeom prst="ellipse">
            <a:avLst/>
          </a:prstGeom>
          <a:solidFill>
            <a:srgbClr val="875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1494472"/>
            <a:ext cx="1034922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조심하실</a:t>
            </a:r>
            <a:r>
              <a:rPr sz="13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34552"/>
            <a:ext cx="5440680" cy="12801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9600" b="1">
                <a:solidFill>
                  <a:srgbClr val="6B3F1A"/>
                </a:solidFill>
                <a:latin typeface="Apple SD Gothic Neo"/>
                <a:ea typeface="Apple SD Gothic Neo"/>
                <a:cs typeface="Apple SD Gothic Neo"/>
              </a:rPr>
              <a:t>540</a:t>
            </a:r>
            <a:r>
              <a:rPr sz="24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60432"/>
            <a:ext cx="5074920" cy="339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방사선치료를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받은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두경부암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환자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시험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074223"/>
            <a:ext cx="507492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4275391"/>
            <a:ext cx="158369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40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2.9</a:t>
            </a:r>
            <a:r>
              <a:rPr sz="18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40889" y="4330255"/>
            <a:ext cx="3765550" cy="5760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치료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첫날부터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비타민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E를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보충한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분들은,</a:t>
            </a:r>
            <a:br/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보충하는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동안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이차암이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이만큼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많았습니다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425702"/>
            <a:ext cx="5196535" cy="3486302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952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6248" y="1718310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들은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이야기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1977390"/>
            <a:ext cx="4611319" cy="8363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“몸에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좋은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항산화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영양제는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많이</a:t>
            </a:r>
            <a:br/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먹을수록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좋대요.”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2996641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확인해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보니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3255721"/>
            <a:ext cx="4611319" cy="966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치료</a:t>
            </a: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중</a:t>
            </a: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고용량</a:t>
            </a: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항산화</a:t>
            </a: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보충제는</a:t>
            </a: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권하지</a:t>
            </a:r>
            <a:br/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않습니다.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음식으로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드시는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채소·과일은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다른</a:t>
            </a:r>
            <a:br/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이야기입니다.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6248" y="4405122"/>
            <a:ext cx="4611319" cy="2599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방사선치료는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활성산소로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암세포를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공격합니다.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조심하실</a:t>
            </a:r>
            <a:r>
              <a:rPr sz="10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두경부암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환자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540명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시험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비타민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E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보충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133345" cy="45720"/>
          </a:xfrm>
          <a:prstGeom prst="rect">
            <a:avLst/>
          </a:prstGeom>
          <a:solidFill>
            <a:srgbClr val="875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08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99044"/>
            <a:ext cx="1400682" cy="365760"/>
          </a:xfrm>
          <a:prstGeom prst="roundRect">
            <a:avLst>
              <a:gd name="adj" fmla="val 50000"/>
            </a:avLst>
          </a:prstGeom>
          <a:solidFill>
            <a:srgbClr val="F4E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1640776"/>
            <a:ext cx="82296" cy="82296"/>
          </a:xfrm>
          <a:prstGeom prst="ellipse">
            <a:avLst/>
          </a:prstGeom>
          <a:solidFill>
            <a:srgbClr val="875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1499044"/>
            <a:ext cx="1034922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조심하실</a:t>
            </a:r>
            <a:r>
              <a:rPr sz="13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39124"/>
            <a:ext cx="5440680" cy="12801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9600" b="1">
                <a:solidFill>
                  <a:srgbClr val="6B3F1A"/>
                </a:solidFill>
                <a:latin typeface="Apple SD Gothic Neo"/>
                <a:ea typeface="Apple SD Gothic Neo"/>
                <a:cs typeface="Apple SD Gothic Neo"/>
              </a:rPr>
              <a:t>24</a:t>
            </a:r>
            <a:r>
              <a:rPr sz="24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시간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65004"/>
            <a:ext cx="5074920" cy="339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자몽을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먹고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이만큼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지나도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078795"/>
            <a:ext cx="507492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4279963"/>
            <a:ext cx="1638299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40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  <a:r>
              <a:rPr sz="18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분의 </a:t>
            </a:r>
            <a:r>
              <a:rPr sz="40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95499" y="4474273"/>
            <a:ext cx="3710940" cy="2880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효과의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이만큼이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남습니다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306372"/>
            <a:ext cx="5196535" cy="3653637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952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6248" y="1598980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들은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이야기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1858060"/>
            <a:ext cx="4611319" cy="8363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“자몽은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약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먹는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시간만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피해서</a:t>
            </a:r>
            <a:br/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먹으면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된대요.”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2877312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확인해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보니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3136391"/>
            <a:ext cx="4611319" cy="6504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시간을</a:t>
            </a: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띄워도</a:t>
            </a: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해결되지</a:t>
            </a: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않습니다.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문제는</a:t>
            </a:r>
            <a:br/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드시는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먹는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약입니다.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6248" y="3969715"/>
            <a:ext cx="4611319" cy="743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라임·포멜로도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같고,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네이블·발렌시아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같은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보통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오렌지는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괜찮습니다.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먹는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항암제·표적치료제·항호르몬제에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따라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판단이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다르니,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앱에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약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이름을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넣어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확인해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보세요.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조심하실</a:t>
            </a:r>
            <a:r>
              <a:rPr sz="10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자몽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라임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포멜로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75013" cy="45720"/>
          </a:xfrm>
          <a:prstGeom prst="rect">
            <a:avLst/>
          </a:prstGeom>
          <a:solidFill>
            <a:srgbClr val="875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09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9309"/>
            <a:ext cx="1400682" cy="365760"/>
          </a:xfrm>
          <a:prstGeom prst="roundRect">
            <a:avLst>
              <a:gd name="adj" fmla="val 50000"/>
            </a:avLst>
          </a:prstGeom>
          <a:solidFill>
            <a:srgbClr val="F4E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1471041"/>
            <a:ext cx="82296" cy="82296"/>
          </a:xfrm>
          <a:prstGeom prst="ellipse">
            <a:avLst/>
          </a:prstGeom>
          <a:solidFill>
            <a:srgbClr val="875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1329309"/>
            <a:ext cx="1034922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조심하실</a:t>
            </a:r>
            <a:r>
              <a:rPr sz="13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69388"/>
            <a:ext cx="5440680" cy="12801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9600" b="1">
                <a:solidFill>
                  <a:srgbClr val="6B3F1A"/>
                </a:solidFill>
                <a:latin typeface="Apple SD Gothic Neo"/>
                <a:ea typeface="Apple SD Gothic Neo"/>
                <a:cs typeface="Apple SD Gothic Neo"/>
              </a:rPr>
              <a:t>25,871</a:t>
            </a:r>
            <a:r>
              <a:rPr sz="24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95269"/>
            <a:ext cx="5074920" cy="6789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일반인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예방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연구(VITAL)에서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암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발생이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줄지</a:t>
            </a:r>
            <a:br/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않았습니다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248531"/>
            <a:ext cx="507492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4449699"/>
            <a:ext cx="1746504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40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100</a:t>
            </a:r>
            <a:r>
              <a:rPr sz="18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µg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03704" y="4644008"/>
            <a:ext cx="3602735" cy="2880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하루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상한입니다(4,000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IU)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188948"/>
            <a:ext cx="5196535" cy="2501188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952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6248" y="1481556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들은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이야기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1740636"/>
            <a:ext cx="4611319" cy="4273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“비타민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D는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많이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먹을수록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좋대요.”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2350846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확인해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보니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609926"/>
            <a:ext cx="4611319" cy="6504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결핍이</a:t>
            </a: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있으면</a:t>
            </a: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채우는</a:t>
            </a: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것이고,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항암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효과를</a:t>
            </a:r>
            <a:br/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기대한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고용량은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확인되지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않았습니다.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3964457"/>
            <a:ext cx="45720" cy="1201674"/>
          </a:xfrm>
          <a:prstGeom prst="rect">
            <a:avLst/>
          </a:prstGeom>
          <a:solidFill>
            <a:srgbClr val="875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537959" y="3991889"/>
            <a:ext cx="4922215" cy="25069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하나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더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—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“햄·소시지가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담배랑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같은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1군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발암물질이래요.”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4315739"/>
            <a:ext cx="492221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줄이시는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것이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맞지만,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담배만큼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위험하다는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뜻은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아닙니다.</a:t>
            </a:r>
            <a:br/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국제암연구소의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1군은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“근거가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얼마나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확실한가”를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말하는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등급입니다.</a:t>
            </a:r>
            <a:br/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완전히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끊기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어렵다면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주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1회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이하,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한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번에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조금으로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줄여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보세요.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조심하실</a:t>
            </a:r>
            <a:r>
              <a:rPr sz="10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VITAL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25,871명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국제암연구소(IARC)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분류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16681" cy="45720"/>
          </a:xfrm>
          <a:prstGeom prst="rect">
            <a:avLst/>
          </a:prstGeom>
          <a:solidFill>
            <a:srgbClr val="7A3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10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44980"/>
            <a:ext cx="2127123" cy="365760"/>
          </a:xfrm>
          <a:prstGeom prst="roundRect">
            <a:avLst>
              <a:gd name="adj" fmla="val 50000"/>
            </a:avLst>
          </a:prstGeom>
          <a:solidFill>
            <a:srgbClr val="F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1886712"/>
            <a:ext cx="82296" cy="82296"/>
          </a:xfrm>
          <a:prstGeom prst="ellipse">
            <a:avLst/>
          </a:prstGeom>
          <a:solidFill>
            <a:srgbClr val="7A3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1744980"/>
            <a:ext cx="1761363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몰라서</a:t>
            </a:r>
            <a:r>
              <a:rPr sz="13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놓치기</a:t>
            </a:r>
            <a:r>
              <a:rPr sz="13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쉬운</a:t>
            </a:r>
            <a:r>
              <a:rPr sz="13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8506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위</a:t>
            </a:r>
            <a:r>
              <a:rPr sz="1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전절제</a:t>
            </a:r>
            <a:r>
              <a:rPr sz="1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뒤</a:t>
            </a:r>
            <a:r>
              <a:rPr sz="1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비타민</a:t>
            </a:r>
            <a:r>
              <a:rPr sz="1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B12,</a:t>
            </a:r>
            <a:r>
              <a:rPr sz="1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하루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23388"/>
            <a:ext cx="5440680" cy="933449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7000" b="1">
                <a:solidFill>
                  <a:srgbClr val="5E2A33"/>
                </a:solidFill>
                <a:latin typeface="Apple SD Gothic Neo"/>
                <a:ea typeface="Apple SD Gothic Neo"/>
                <a:cs typeface="Apple SD Gothic Neo"/>
              </a:rPr>
              <a:t>500</a:t>
            </a:r>
            <a:r>
              <a:rPr sz="70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~</a:t>
            </a:r>
            <a:r>
              <a:rPr sz="7000" b="1">
                <a:solidFill>
                  <a:srgbClr val="5E2A33"/>
                </a:solidFill>
                <a:latin typeface="Apple SD Gothic Neo"/>
                <a:ea typeface="Apple SD Gothic Neo"/>
                <a:cs typeface="Apple SD Gothic Neo"/>
              </a:rPr>
              <a:t>1,500</a:t>
            </a:r>
            <a:r>
              <a:rPr sz="24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µg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02557"/>
            <a:ext cx="5074920" cy="6789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을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먹는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방법도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연구되어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있습니다.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주사가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흔히</a:t>
            </a:r>
            <a:br/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쓰입니다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726414"/>
            <a:ext cx="5196535" cy="3337560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952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56248" y="1019022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들은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이야기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6248" y="1278102"/>
            <a:ext cx="4611319" cy="8363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“위를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다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떼어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냈는데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종합비타민이면</a:t>
            </a:r>
            <a:br/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충분하겠지요?”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6248" y="2297353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확인해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보니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2556433"/>
            <a:ext cx="4611319" cy="3343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비타민</a:t>
            </a:r>
            <a:r>
              <a:rPr sz="17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B12는</a:t>
            </a:r>
            <a:r>
              <a:rPr sz="17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평생,</a:t>
            </a:r>
            <a:r>
              <a:rPr sz="17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따로</a:t>
            </a:r>
            <a:r>
              <a:rPr sz="17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챙기셔야</a:t>
            </a:r>
            <a:r>
              <a:rPr sz="17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3073679"/>
            <a:ext cx="4611319" cy="743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위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전절제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뒤에는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B12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흡수에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필요한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물질이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없어집니다.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종합비타민은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제품마다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양이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달라,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방법과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용량은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담당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의료진과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정하세요.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4338294"/>
            <a:ext cx="45720" cy="1201674"/>
          </a:xfrm>
          <a:prstGeom prst="rect">
            <a:avLst/>
          </a:prstGeom>
          <a:solidFill>
            <a:srgbClr val="7A3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37959" y="4365726"/>
            <a:ext cx="4922215" cy="25069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하나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더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—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“위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수술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뒤에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곶감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정도는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괜찮겠지요?”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59" y="4689576"/>
            <a:ext cx="492221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감·곶감은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조심하세요.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감의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탄닌이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위액과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만나면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섬유가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엉겨</a:t>
            </a:r>
            <a:br/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덩어리(위석)가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될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수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있습니다.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위절제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뒤에는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위의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움직임이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줄어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더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잘</a:t>
            </a:r>
            <a:br/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생깁니다.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몰라서</a:t>
            </a:r>
            <a:r>
              <a:rPr sz="10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놓치기</a:t>
            </a:r>
            <a:r>
              <a:rPr sz="10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쉬운</a:t>
            </a:r>
            <a:r>
              <a:rPr sz="10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위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수술을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받으셨다면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058349" cy="45720"/>
          </a:xfrm>
          <a:prstGeom prst="rect">
            <a:avLst/>
          </a:prstGeom>
          <a:solidFill>
            <a:srgbClr val="5E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11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55089"/>
            <a:ext cx="1607057" cy="365760"/>
          </a:xfrm>
          <a:prstGeom prst="roundRect">
            <a:avLst>
              <a:gd name="adj" fmla="val 50000"/>
            </a:avLst>
          </a:prstGeom>
          <a:solidFill>
            <a:srgbClr val="E5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1996820"/>
            <a:ext cx="82296" cy="82296"/>
          </a:xfrm>
          <a:prstGeom prst="ellipse">
            <a:avLst/>
          </a:prstGeom>
          <a:solidFill>
            <a:srgbClr val="5E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1855089"/>
            <a:ext cx="1241298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아직</a:t>
            </a:r>
            <a:r>
              <a:rPr sz="13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 모르는</a:t>
            </a:r>
            <a:r>
              <a:rPr sz="13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95169"/>
            <a:ext cx="5074920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5800" b="1">
                <a:solidFill>
                  <a:srgbClr val="46515C"/>
                </a:solidFill>
                <a:latin typeface="Apple SD Gothic Neo"/>
                <a:ea typeface="Apple SD Gothic Neo"/>
                <a:cs typeface="Apple SD Gothic Neo"/>
              </a:rPr>
              <a:t>아직 모릅니다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92449"/>
            <a:ext cx="5074920" cy="6789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모르는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것은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모른다고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적었습니다.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해롭다는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뜻이</a:t>
            </a:r>
            <a:br/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아니라,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확인할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연구가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없다는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뜻입니다.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870965"/>
            <a:ext cx="5196535" cy="4453127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952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556248" y="1163573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들은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이야기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6248" y="1422653"/>
            <a:ext cx="4611319" cy="8363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“칡즙이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갱년기에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좋대요.”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br/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“로열젤리가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기운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나게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해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준대요.”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6248" y="2441905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확인해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보니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6248" y="2700985"/>
            <a:ext cx="4611319" cy="966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호르몬</a:t>
            </a:r>
            <a:r>
              <a:rPr sz="17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 양성</a:t>
            </a:r>
            <a:r>
              <a:rPr sz="17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 유방암이라면</a:t>
            </a:r>
            <a:r>
              <a:rPr sz="17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 ‘주의’로</a:t>
            </a:r>
            <a:r>
              <a:rPr sz="17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 둡니다.</a:t>
            </a:r>
            <a:br/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해롭다는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근거가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있어서가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아니라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근거가</a:t>
            </a:r>
            <a:br/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없어서입니다.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3850385"/>
            <a:ext cx="4611319" cy="12268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칡뿌리는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식물성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에스트로겐이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많지만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유방암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환자가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먹어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본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연구는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찾지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못했습니다.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로열젤리는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동물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실험에서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에스트로겐과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비슷한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작용이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보고되었고,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벌·꽃가루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알레르기나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천식이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있으시면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드시지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마세요.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칡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전분으로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만든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냉면·묵은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해당하지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않습니다.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아직</a:t>
            </a:r>
            <a:r>
              <a:rPr sz="10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 모르는</a:t>
            </a:r>
            <a:r>
              <a:rPr sz="10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칡뿌리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로열젤리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00018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12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어떻게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확인했나요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40280"/>
            <a:ext cx="5074920" cy="15544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11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168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507492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의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참고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문헌을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요약이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아니라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원문으로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찾아,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앱의</a:t>
            </a:r>
            <a:br/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문장과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한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줄씩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맞춰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보았습니다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600200"/>
            <a:ext cx="519653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263640" y="1828800"/>
            <a:ext cx="5196535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1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만든</a:t>
            </a:r>
            <a:r>
              <a:rPr sz="21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 사람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258568"/>
            <a:ext cx="519653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방사선종양학과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전문의가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만들었습니다.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8920"/>
            <a:ext cx="519653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263640" y="3017520"/>
            <a:ext cx="5196535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1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근거</a:t>
            </a:r>
            <a:r>
              <a:rPr sz="21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 등급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447287"/>
            <a:ext cx="519653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문장마다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근거가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얼마나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단단한지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등급을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적었습니다.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977639"/>
            <a:ext cx="519653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263640" y="4206240"/>
            <a:ext cx="5196535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1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“아직</a:t>
            </a:r>
            <a:r>
              <a:rPr sz="21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 모릅니다”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636007"/>
            <a:ext cx="519653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모르는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것은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모른다고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적었습니다.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5166359"/>
            <a:ext cx="519653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이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자료의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숫자는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2026년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10월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15일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앱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화면의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문장과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같습니다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341686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13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888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근거의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단단함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33244"/>
            <a:ext cx="5303520" cy="146685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11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130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91534"/>
            <a:ext cx="4937760" cy="6789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의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영양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규칙마다,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근거가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얼마나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단단한지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등급을</a:t>
            </a:r>
            <a:br/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붙였습니다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292733"/>
            <a:ext cx="402336" cy="402336"/>
          </a:xfrm>
          <a:prstGeom prst="roundRect">
            <a:avLst>
              <a:gd name="adj" fmla="val 20000"/>
            </a:avLst>
          </a:prstGeom>
          <a:solidFill>
            <a:srgbClr val="324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263640" y="1292733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eaLnBrk="0">
              <a:lnSpc>
                <a:spcPct val="122000"/>
              </a:lnSpc>
            </a:pPr>
            <a:r>
              <a:rPr sz="1700" b="1">
                <a:solidFill>
                  <a:srgbClr val="FAF9F4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12279" y="1420749"/>
            <a:ext cx="1828800" cy="146304"/>
          </a:xfrm>
          <a:prstGeom prst="roundRect">
            <a:avLst>
              <a:gd name="adj" fmla="val 50000"/>
            </a:avLst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812279" y="1420749"/>
            <a:ext cx="281353" cy="146304"/>
          </a:xfrm>
          <a:prstGeom prst="roundRect">
            <a:avLst>
              <a:gd name="adj" fmla="val 50000"/>
            </a:avLst>
          </a:prstGeom>
          <a:solidFill>
            <a:srgbClr val="324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732519" y="1256157"/>
            <a:ext cx="6858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2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5480" y="1292733"/>
            <a:ext cx="190469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무작위</a:t>
            </a: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시험·메타분석이</a:t>
            </a:r>
            <a:br/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받치는</a:t>
            </a: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951101"/>
            <a:ext cx="402336" cy="402336"/>
          </a:xfrm>
          <a:prstGeom prst="roundRect">
            <a:avLst>
              <a:gd name="adj" fmla="val 20000"/>
            </a:avLst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263640" y="1951101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eaLnBrk="0">
              <a:lnSpc>
                <a:spcPct val="122000"/>
              </a:lnSpc>
            </a:pPr>
            <a:r>
              <a:rPr sz="1700" b="1">
                <a:solidFill>
                  <a:srgbClr val="FAF9F4"/>
                </a:solidFill>
                <a:latin typeface="Apple SD Gothic Neo"/>
                <a:ea typeface="Apple SD Gothic Neo"/>
                <a:cs typeface="Apple SD Gothic Neo"/>
              </a:rPr>
              <a:t>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12279" y="2079117"/>
            <a:ext cx="1828800" cy="146304"/>
          </a:xfrm>
          <a:prstGeom prst="roundRect">
            <a:avLst>
              <a:gd name="adj" fmla="val 50000"/>
            </a:avLst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6812279" y="2079117"/>
            <a:ext cx="422030" cy="146304"/>
          </a:xfrm>
          <a:prstGeom prst="roundRect">
            <a:avLst>
              <a:gd name="adj" fmla="val 50000"/>
            </a:avLst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732519" y="1914525"/>
            <a:ext cx="6858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2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1951101"/>
            <a:ext cx="190469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큰</a:t>
            </a: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관찰</a:t>
            </a: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연구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2609469"/>
            <a:ext cx="402336" cy="402336"/>
          </a:xfrm>
          <a:prstGeom prst="roundRect">
            <a:avLst>
              <a:gd name="adj" fmla="val 20000"/>
            </a:avLst>
          </a:prstGeom>
          <a:solidFill>
            <a:srgbClr val="CCD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263640" y="2609469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eaLnBrk="0">
              <a:lnSpc>
                <a:spcPct val="122000"/>
              </a:lnSpc>
            </a:pPr>
            <a:r>
              <a:rPr sz="17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12279" y="2737485"/>
            <a:ext cx="1828800" cy="146304"/>
          </a:xfrm>
          <a:prstGeom prst="roundRect">
            <a:avLst>
              <a:gd name="adj" fmla="val 50000"/>
            </a:avLst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6812279" y="2737485"/>
            <a:ext cx="1125415" cy="146304"/>
          </a:xfrm>
          <a:prstGeom prst="roundRect">
            <a:avLst>
              <a:gd name="adj" fmla="val 50000"/>
            </a:avLst>
          </a:prstGeom>
          <a:solidFill>
            <a:srgbClr val="CCD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732519" y="2572893"/>
            <a:ext cx="6858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2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609469"/>
            <a:ext cx="190469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근거가</a:t>
            </a: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적거나</a:t>
            </a: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간접적인</a:t>
            </a:r>
            <a:br/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267836"/>
            <a:ext cx="402336" cy="402336"/>
          </a:xfrm>
          <a:prstGeom prst="roundRect">
            <a:avLst>
              <a:gd name="adj" fmla="val 20000"/>
            </a:avLst>
          </a:prstGeom>
          <a:solidFill>
            <a:srgbClr val="875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263640" y="3267836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eaLnBrk="0">
              <a:lnSpc>
                <a:spcPct val="122000"/>
              </a:lnSpc>
            </a:pPr>
            <a:r>
              <a:rPr sz="1700" b="1">
                <a:solidFill>
                  <a:srgbClr val="FAF9F4"/>
                </a:solidFill>
                <a:latin typeface="Apple SD Gothic Neo"/>
                <a:ea typeface="Apple SD Gothic Neo"/>
                <a:cs typeface="Apple SD Gothic Neo"/>
              </a:rPr>
              <a:t>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12279" y="3395852"/>
            <a:ext cx="1828800" cy="146304"/>
          </a:xfrm>
          <a:prstGeom prst="roundRect">
            <a:avLst>
              <a:gd name="adj" fmla="val 50000"/>
            </a:avLst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6812279" y="3395852"/>
            <a:ext cx="1828800" cy="146304"/>
          </a:xfrm>
          <a:prstGeom prst="roundRect">
            <a:avLst>
              <a:gd name="adj" fmla="val 50000"/>
            </a:avLst>
          </a:prstGeom>
          <a:solidFill>
            <a:srgbClr val="875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732519" y="3231260"/>
            <a:ext cx="6858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2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65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55480" y="3267836"/>
            <a:ext cx="190469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학회</a:t>
            </a: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지침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154804"/>
            <a:ext cx="5196535" cy="8618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5000"/>
              </a:lnSpc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화면의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문장마다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등급이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함께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나오고,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모르는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것은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“아직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모릅니다”라고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적었습니다.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식사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연구는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무작위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시험이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드물어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학회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지침(G)이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가장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많습니다.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등급을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부풀리지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않고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그대로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보여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드립니다.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무작위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시험·메타분석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B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큰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관찰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연구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C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적거나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간접적인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근거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G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학회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지침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983354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14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28559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판단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22919"/>
            <a:ext cx="5303520" cy="146685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11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158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81209"/>
            <a:ext cx="4937760" cy="339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의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판단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기준으로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음식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하나하나를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195000"/>
            <a:ext cx="493776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1520" y="4377880"/>
            <a:ext cx="54864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34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10</a:t>
            </a:r>
            <a:r>
              <a:rPr sz="15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암종</a:t>
            </a:r>
            <a:r>
              <a:rPr sz="34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     18</a:t>
            </a:r>
            <a:r>
              <a:rPr sz="15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약제</a:t>
            </a:r>
            <a:r>
              <a:rPr sz="34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     17</a:t>
            </a:r>
            <a:r>
              <a:rPr sz="15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증상·상태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618488"/>
            <a:ext cx="519653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263640" y="1819656"/>
            <a:ext cx="1874519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00000"/>
              </a:lnSpc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02167" y="20025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59" y="1837943"/>
            <a:ext cx="286481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영양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규칙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59" y="2185416"/>
            <a:ext cx="286481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암종·치료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시기·증상에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따라</a:t>
            </a:r>
            <a:br/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권장·주의·피하세요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2642616"/>
            <a:ext cx="519653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63640" y="2843784"/>
            <a:ext cx="1874519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00000"/>
              </a:lnSpc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2167" y="302666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59" y="2862072"/>
            <a:ext cx="286481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약–음식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상호작용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59" y="3209544"/>
            <a:ext cx="286481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드시는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약에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따라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달라지는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음식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666744"/>
            <a:ext cx="519653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263640" y="3867911"/>
            <a:ext cx="1874519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00000"/>
              </a:lnSpc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36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2167" y="4050791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59" y="3886200"/>
            <a:ext cx="286481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영양제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성분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규칙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59" y="4233672"/>
            <a:ext cx="286481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영양제에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든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원료를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하나씩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690872"/>
            <a:ext cx="519653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암종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—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유방·위·대장·폐·간·전립선·췌장·식도·두경부·부인암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625022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15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5530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한국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밥상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49664"/>
            <a:ext cx="5303520" cy="11734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88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291,378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14584"/>
            <a:ext cx="4937760" cy="339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의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식품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자료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위에서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한국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밥상을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차립니다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618488"/>
            <a:ext cx="519653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263640" y="1819656"/>
            <a:ext cx="1874519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00000"/>
              </a:lnSpc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18,298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02167" y="20025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59" y="1837943"/>
            <a:ext cx="286481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기본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식품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59" y="2185416"/>
            <a:ext cx="286481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국·김치·젓갈까지,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한식을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1회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제공량으로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642616"/>
            <a:ext cx="519653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63640" y="2843784"/>
            <a:ext cx="1874519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00000"/>
              </a:lnSpc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273,080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2167" y="302666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59" y="2862072"/>
            <a:ext cx="286481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시판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가공식품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59" y="3209544"/>
            <a:ext cx="286481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제조사·품목보고번호가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있는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제품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3666744"/>
            <a:ext cx="519653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63640" y="3867911"/>
            <a:ext cx="1874519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00000"/>
              </a:lnSpc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45,618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2167" y="4050791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59" y="3886200"/>
            <a:ext cx="286481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시판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영양제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59" y="4233672"/>
            <a:ext cx="286481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식품과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따로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셉니다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4690872"/>
            <a:ext cx="519653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기본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식품과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가공식품은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출처가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다른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별개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기록이라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더했습니다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영양제는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합계에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넣지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않았습니다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66690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16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050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판단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엔진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9400"/>
            <a:ext cx="5303520" cy="146685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11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6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57690"/>
            <a:ext cx="4937760" cy="6789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의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판단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엔진이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일을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나눠,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지금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이분께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맞는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한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상을</a:t>
            </a:r>
            <a:br/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차립니다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10952"/>
            <a:ext cx="512064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1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맞추는</a:t>
            </a:r>
            <a:r>
              <a:rPr sz="11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  <a:r>
              <a:rPr sz="11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1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1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암종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치료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시기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증상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드시는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약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체중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359592"/>
            <a:ext cx="493776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20" y="4560760"/>
            <a:ext cx="132283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4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88</a:t>
            </a:r>
            <a:r>
              <a:rPr sz="18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0032" y="4615624"/>
            <a:ext cx="3889248" cy="83324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가상</a:t>
            </a: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환자</a:t>
            </a: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검사에서</a:t>
            </a: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열량·단백질·섬유가</a:t>
            </a: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모두</a:t>
            </a:r>
            <a:br/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‘적정’인</a:t>
            </a: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하루</a:t>
            </a: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식단</a:t>
            </a: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—</a:t>
            </a: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넘친</a:t>
            </a: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것을</a:t>
            </a: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덜어</a:t>
            </a: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내기</a:t>
            </a: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전에는</a:t>
            </a:r>
            <a:br/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33</a:t>
            </a:r>
            <a:r>
              <a:rPr sz="13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225295"/>
            <a:ext cx="2525115" cy="1188720"/>
          </a:xfrm>
          <a:prstGeom prst="roundRect">
            <a:avLst>
              <a:gd name="adj" fmla="val 10000"/>
            </a:avLst>
          </a:prstGeom>
          <a:solidFill>
            <a:srgbClr val="E6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92240" y="1408175"/>
            <a:ext cx="211363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영양</a:t>
            </a:r>
            <a:r>
              <a:rPr sz="17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 목표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792224"/>
            <a:ext cx="2113635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0000"/>
              </a:lnSpc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체중과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치료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시기에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맞춘</a:t>
            </a:r>
            <a:br/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열량·단백질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35059" y="1225295"/>
            <a:ext cx="2525115" cy="1188720"/>
          </a:xfrm>
          <a:prstGeom prst="roundRect">
            <a:avLst>
              <a:gd name="adj" fmla="val 10000"/>
            </a:avLst>
          </a:prstGeom>
          <a:solidFill>
            <a:srgbClr val="E6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63659" y="1408175"/>
            <a:ext cx="211363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음식</a:t>
            </a:r>
            <a:r>
              <a:rPr sz="17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 판정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63659" y="1792224"/>
            <a:ext cx="2113635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0000"/>
              </a:lnSpc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권장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주의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피하세요,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약과의</a:t>
            </a:r>
            <a:br/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상호작용까지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560320"/>
            <a:ext cx="2525115" cy="1188720"/>
          </a:xfrm>
          <a:prstGeom prst="roundRect">
            <a:avLst>
              <a:gd name="adj" fmla="val 10000"/>
            </a:avLst>
          </a:prstGeom>
          <a:solidFill>
            <a:srgbClr val="E6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92240" y="2743200"/>
            <a:ext cx="211363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식단</a:t>
            </a:r>
            <a:r>
              <a:rPr sz="17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 구성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127248"/>
            <a:ext cx="2113635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0000"/>
              </a:lnSpc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밥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+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반찬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2~3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+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국,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넘친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것은</a:t>
            </a:r>
            <a:br/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덜어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35059" y="2560320"/>
            <a:ext cx="2525115" cy="1188720"/>
          </a:xfrm>
          <a:prstGeom prst="roundRect">
            <a:avLst>
              <a:gd name="adj" fmla="val 10000"/>
            </a:avLst>
          </a:prstGeom>
          <a:solidFill>
            <a:srgbClr val="E6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63659" y="2743200"/>
            <a:ext cx="211363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영양제</a:t>
            </a:r>
            <a:r>
              <a:rPr sz="17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 원료</a:t>
            </a:r>
            <a:r>
              <a:rPr sz="17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 판정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63659" y="3127248"/>
            <a:ext cx="2113635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0000"/>
              </a:lnSpc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제품에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든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원료를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하나씩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895344"/>
            <a:ext cx="2525115" cy="1188720"/>
          </a:xfrm>
          <a:prstGeom prst="roundRect">
            <a:avLst>
              <a:gd name="adj" fmla="val 10000"/>
            </a:avLst>
          </a:prstGeom>
          <a:solidFill>
            <a:srgbClr val="E6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92240" y="4078224"/>
            <a:ext cx="211363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영양제</a:t>
            </a:r>
            <a:r>
              <a:rPr sz="17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 조언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462272"/>
            <a:ext cx="2113635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0000"/>
              </a:lnSpc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치료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이력·증상·약에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따라</a:t>
            </a:r>
            <a:br/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필요한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것과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피할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35059" y="3895344"/>
            <a:ext cx="2525115" cy="1188720"/>
          </a:xfrm>
          <a:prstGeom prst="roundRect">
            <a:avLst>
              <a:gd name="adj" fmla="val 10000"/>
            </a:avLst>
          </a:prstGeom>
          <a:solidFill>
            <a:srgbClr val="E6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163659" y="4078224"/>
            <a:ext cx="211363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하루</a:t>
            </a:r>
            <a:r>
              <a:rPr sz="17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 평가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63659" y="4462272"/>
            <a:ext cx="2113635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0000"/>
              </a:lnSpc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충분했나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모자랐나를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한눈에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영양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목표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음식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판정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식단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구성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영양제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원료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판정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영양제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조언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하루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평가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08358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17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6198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얼마나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시험했나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56344"/>
            <a:ext cx="5303520" cy="9601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7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2,299,569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07904"/>
            <a:ext cx="4937760" cy="339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의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추천을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하나하나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검사했습니다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106424"/>
            <a:ext cx="519653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263640" y="1307592"/>
            <a:ext cx="1874519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00000"/>
              </a:lnSpc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02167" y="149047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59" y="1325880"/>
            <a:ext cx="286481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가상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환자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59" y="1673352"/>
            <a:ext cx="286481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암종·시기·증상·약을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무작위로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130552"/>
            <a:ext cx="519653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63640" y="2331720"/>
            <a:ext cx="1874519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00000"/>
              </a:lnSpc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2167" y="251460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59" y="2350008"/>
            <a:ext cx="286481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한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사람이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지나가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본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59" y="2697480"/>
            <a:ext cx="286481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석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달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동안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날마다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식단을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받아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3154680"/>
            <a:ext cx="519653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63640" y="3355848"/>
            <a:ext cx="1874519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00000"/>
              </a:lnSpc>
            </a:pPr>
            <a:r>
              <a:rPr sz="30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2167" y="35387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59" y="3374136"/>
            <a:ext cx="286481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피해야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할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것을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권한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경우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59" y="3721608"/>
            <a:ext cx="286481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2,000명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×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90일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=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180,000일치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식단에서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4178808"/>
            <a:ext cx="519653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63640" y="4379976"/>
            <a:ext cx="1874519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00000"/>
              </a:lnSpc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2167" y="4562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59" y="4398264"/>
            <a:ext cx="286481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자동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검사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59" y="4745736"/>
            <a:ext cx="286481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고칠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때마다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다시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돌립니다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독립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안전</a:t>
            </a: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검토</a:t>
            </a:r>
            <a:br/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반영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5202936"/>
            <a:ext cx="519653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가상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환자로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돌린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검사입니다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실제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환자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결과가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아닙니다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50027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18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하루차림이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하지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않는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5740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4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하지 않는 것도 분명히 말씀드립니다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291840"/>
            <a:ext cx="3332378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31520" y="3520440"/>
            <a:ext cx="3332378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1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치료를</a:t>
            </a:r>
            <a:r>
              <a:rPr sz="21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대신하지</a:t>
            </a:r>
            <a:r>
              <a:rPr sz="21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23360"/>
            <a:ext cx="3332378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5000"/>
              </a:lnSpc>
            </a:pP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모든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안내는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“담당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의료진과</a:t>
            </a:r>
            <a:br/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상의하세요”로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끝납니다.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29658" y="3291840"/>
            <a:ext cx="3332378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429658" y="3520440"/>
            <a:ext cx="3332378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1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아무것도</a:t>
            </a:r>
            <a:r>
              <a:rPr sz="21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팔지</a:t>
            </a:r>
            <a:r>
              <a:rPr sz="21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않습니다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4023360"/>
            <a:ext cx="3332378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5000"/>
              </a:lnSpc>
            </a:pP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건강식품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광고도,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제휴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판매도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없습니다.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27796" y="3291840"/>
            <a:ext cx="3332378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127796" y="3520440"/>
            <a:ext cx="3332378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1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기록은</a:t>
            </a:r>
            <a:r>
              <a:rPr sz="21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기기</a:t>
            </a:r>
            <a:r>
              <a:rPr sz="21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안에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7796" y="4023360"/>
            <a:ext cx="3332378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5000"/>
              </a:lnSpc>
            </a:pP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입력하신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기록은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기기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안에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저장됩니다.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하루차림은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의료기기가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아니며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진단·치료를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목적으로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하지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않습니다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19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휴대폰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카메라로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찍으시면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바로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열립니다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713232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5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harucharim.com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3383280"/>
            <a:ext cx="91440" cy="91440"/>
          </a:xfrm>
          <a:prstGeom prst="ellipse">
            <a:avLst/>
          </a:prstGeom>
          <a:solidFill>
            <a:srgbClr val="4B6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3291840"/>
            <a:ext cx="676656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암종·치료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단계·드시는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약에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맞춰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하루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세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끼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한식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상차림을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추천합니다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3840479"/>
            <a:ext cx="91440" cy="91440"/>
          </a:xfrm>
          <a:prstGeom prst="ellipse">
            <a:avLst/>
          </a:prstGeom>
          <a:solidFill>
            <a:srgbClr val="4B6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749039"/>
            <a:ext cx="676656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유방·위·대장·폐·간·전립선·췌장·식도·두경부·부인암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4297679"/>
            <a:ext cx="91440" cy="91440"/>
          </a:xfrm>
          <a:prstGeom prst="ellipse">
            <a:avLst/>
          </a:prstGeom>
          <a:solidFill>
            <a:srgbClr val="4B6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206240"/>
            <a:ext cx="676656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방사선종양학과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전문의가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만든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무료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앱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판매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9204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이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자료는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일반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정보입니다.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개인의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치료와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식사는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담당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의료진과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정하십시오.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49640" y="1828800"/>
            <a:ext cx="2907792" cy="3319272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952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2057400"/>
            <a:ext cx="2450592" cy="24505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49640" y="4626864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eaLnBrk="0">
              <a:lnSpc>
                <a:spcPct val="122000"/>
              </a:lnSpc>
            </a:pPr>
            <a:r>
              <a:rPr sz="12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harucharim.com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pple SD Gothic Neo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ple SD Gothic Neo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그 이야기, 정말일까요 — 하루차림</dc:title>
  <dc:subject/>
  <dc:creator>하루차림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