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083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환자·가족과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보는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자료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2026년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10월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5000"/>
              </a:lnSpc>
            </a:pPr>
            <a:r>
              <a:rPr sz="6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그 이야기,</a:t>
            </a:r>
          </a:p>
          <a:p>
            <a:pPr algn="l" eaLnBrk="0">
              <a:lnSpc>
                <a:spcPct val="105000"/>
              </a:lnSpc>
            </a:pPr>
            <a:r>
              <a:rPr sz="6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정말일까요?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40"/>
            <a:ext cx="69494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치료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중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음식에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관해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전해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내려오는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이야기를</a:t>
            </a:r>
          </a:p>
          <a:p>
            <a:pPr algn="l" eaLnBrk="0">
              <a:lnSpc>
                <a:spcPct val="140000"/>
              </a:lnSpc>
            </a:pP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논문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원문으로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  <a:r>
              <a:rPr sz="20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확인했습니다.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206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harucharim.com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방사선종양학과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전문의가</a:t>
            </a:r>
            <a:r>
              <a:rPr sz="12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만들었습니다</a:t>
            </a:r>
          </a:p>
        </p:txBody>
      </p:sp>
      <p:pic>
        <p:nvPicPr>
          <p:cNvPr id="8" name="Picture 7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367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쇼에서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클릭하거나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→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키로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넘깁니다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4167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들어가며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10000"/>
              </a:lnSpc>
            </a:pPr>
            <a:r>
              <a:rPr sz="4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진료 시간에 다 여쭤보기</a:t>
            </a:r>
          </a:p>
          <a:p>
            <a:pPr algn="l" eaLnBrk="0">
              <a:lnSpc>
                <a:spcPct val="110000"/>
              </a:lnSpc>
            </a:pPr>
            <a:r>
              <a:rPr sz="4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어려웠던 이야기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241280" cy="12047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55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치료를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시작하면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이야기가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쏟아집니다.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병실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환자분께,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먼저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치료받은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친척에게,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인터넷</a:t>
            </a:r>
            <a:br/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카페에서.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대부분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걱정과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정성에서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나온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말입니다.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이야기들을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확인해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보니,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답은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네</a:t>
            </a:r>
            <a:br/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갈래였습니다.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60120" y="4798314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걱정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때문에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피해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오셨지만,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필요가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없던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것들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975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92575" y="4798314"/>
            <a:ext cx="91440" cy="91440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5455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5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2575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“몸에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좋다니까”,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“조금은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괜찮겠지”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하기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6431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F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425031" y="4798314"/>
            <a:ext cx="91440" cy="91440"/>
          </a:xfrm>
          <a:prstGeom prst="ellipse">
            <a:avLst/>
          </a:prstGeom>
          <a:solidFill>
            <a:srgbClr val="7A3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7911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5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5031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아무도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이야기해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않아서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모르고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지나가기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28887" y="4496562"/>
            <a:ext cx="2531287" cy="1417320"/>
          </a:xfrm>
          <a:prstGeom prst="roundRect">
            <a:avLst>
              <a:gd name="adj" fmla="val 8000"/>
            </a:avLst>
          </a:prstGeom>
          <a:solidFill>
            <a:srgbClr val="E5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57487" y="4798314"/>
            <a:ext cx="91440" cy="91440"/>
          </a:xfrm>
          <a:prstGeom prst="ellipse">
            <a:avLst/>
          </a:prstGeom>
          <a:solidFill>
            <a:srgbClr val="5E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0367" y="4697730"/>
            <a:ext cx="1982647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5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5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7487" y="5090922"/>
            <a:ext cx="2119807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해롭다는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아니라,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확인할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연구가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없다는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이랬습니다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하나씩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보겠습니다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61250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94472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636204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94472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4552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9,514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0432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중국·미국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분석한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74223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275391"/>
            <a:ext cx="13228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0032" y="4330255"/>
            <a:ext cx="4026408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재발이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낮은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쪽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콩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이소플라본을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mg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이상</a:t>
            </a:r>
            <a:br/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드신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06372"/>
            <a:ext cx="5196535" cy="365363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59898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5806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“유방암이면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두부·된장·두유를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끊어야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87731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136391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됩니다.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사람을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대상으로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연구는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오히려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반대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방향을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가리킵니다.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969715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타목시펜을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분도,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방향이었습니다(상하이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5,042명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연구).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다만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이소플라본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농축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보충제는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음식과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중국·미국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9,514명을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함께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분석한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상하이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5,042명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8334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04747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546479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04747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44827"/>
            <a:ext cx="5440680" cy="11201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편 </a:t>
            </a:r>
            <a:r>
              <a:rPr sz="84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·</a:t>
            </a: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1,114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10687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분석에서,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이른바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‘호중구감소증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식단’이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감염을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줄인다는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확인되지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63949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365117"/>
            <a:ext cx="203073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2022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930" y="4419981"/>
            <a:ext cx="3318510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미국임상종양학회도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해의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지침에서</a:t>
            </a:r>
            <a:br/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권하지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06372"/>
            <a:ext cx="5196535" cy="365363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59898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5806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“항암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중에는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생과일·생채소를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먹으면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안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된대요.”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87731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136391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흐르는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물에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잘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씻어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드시면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됩니다.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새싹채소만은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익혀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드세요.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969715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숙주·알팔파·브로콜리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새싹은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씻어도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세균이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남을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수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있어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데치거나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볶아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드세요.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의료진이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주신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기준(예: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조혈모세포이식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병동)이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있으면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그것을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먼저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따르세요.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6편·1,114명을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모은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미국임상종양학회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2022년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지침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5417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9880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471612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329880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996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체중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kg당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단백질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08288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  <a:r>
              <a:rPr sz="9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1.5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34168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유럽임상영양대사학회가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환자에게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권하는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양입니다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247959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4449127"/>
            <a:ext cx="221183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60</a:t>
            </a: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4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032" y="4643437"/>
            <a:ext cx="3137408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체중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60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kg이면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이만큼입니다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445056"/>
            <a:ext cx="5196535" cy="3411931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56248" y="1737664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1996744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환자는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고기를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줄여야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한대요.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간이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나쁘면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더더욱.”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015996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275076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단백질은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오히려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평소보다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넉넉히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드셔야</a:t>
            </a:r>
            <a:br/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4108399"/>
            <a:ext cx="4611319" cy="501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간경변이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있어도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유럽간학회는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1.2~1.5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권합니다.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줄이실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것은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햄·소시지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가공육이지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단백질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자체가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아닙니다.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유럽임상영양대사학회(ESPEN)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유럽간학회(EASL)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22501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57200"/>
            <a:ext cx="2077593" cy="36576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598932"/>
            <a:ext cx="82296" cy="82296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457200"/>
            <a:ext cx="171183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3268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피하실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이유도,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일부러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챙기실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이유도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36192"/>
            <a:ext cx="518144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석류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181447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64</a:t>
            </a:r>
            <a:r>
              <a:rPr sz="2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 </a:t>
            </a:r>
            <a:r>
              <a:rPr sz="5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·</a:t>
            </a: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  <a:r>
              <a:rPr sz="2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85720"/>
            <a:ext cx="5181447" cy="4648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폐경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후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여성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64명이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석류즙을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3주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마신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사람에서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이것</a:t>
            </a:r>
            <a:br/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하나뿐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15132"/>
            <a:ext cx="5181447" cy="2696108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3507739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766820"/>
            <a:ext cx="4596231" cy="3157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“석류는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여성호르몬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과일이라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유방암에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안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265472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524552"/>
            <a:ext cx="4596231" cy="297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피하지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004612"/>
            <a:ext cx="4596231" cy="6597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혈중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호르몬은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사과즙을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마신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분들과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다르지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않았습니다.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반대로</a:t>
            </a:r>
            <a:br/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유방암에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좋다는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사람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아직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없습니다.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과일로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br/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괜찮고,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주스는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당이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많으니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양을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정해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두세요.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536192"/>
            <a:ext cx="5181447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홍삼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1828800"/>
            <a:ext cx="5181447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4,149</a:t>
            </a:r>
            <a:r>
              <a:rPr sz="2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2585720"/>
            <a:ext cx="5181447" cy="232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상하이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생존자를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3년간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2982722"/>
            <a:ext cx="5181447" cy="2779776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71335" y="3275330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1335" y="3534410"/>
            <a:ext cx="4596231" cy="6132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“홍삼은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유방암에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나쁘대요.”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“꼭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챙겨</a:t>
            </a: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먹어야</a:t>
            </a:r>
            <a:br/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한대요.”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1335" y="4330547"/>
            <a:ext cx="4596231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1335" y="4589627"/>
            <a:ext cx="4596231" cy="297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다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5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1335" y="5069687"/>
            <a:ext cx="4596231" cy="4459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인삼을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꾸준히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드신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분과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아닌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분의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삶의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질은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다르지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않았고,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호르몬</a:t>
            </a:r>
            <a:br/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수용체에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달라지지도</a:t>
            </a:r>
            <a:r>
              <a:rPr sz="11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않았습니다.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와파린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약을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드신다면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석류도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홍삼도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의사에게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알려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주세요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94472"/>
            <a:ext cx="1400682" cy="36576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636204"/>
            <a:ext cx="82296" cy="82296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94472"/>
            <a:ext cx="1034922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4552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540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0432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방사선치료를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받은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두경부암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시험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74223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275391"/>
            <a:ext cx="158369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2.9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0889" y="4330255"/>
            <a:ext cx="3765550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치료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첫날부터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비타민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E를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보충한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분들은,</a:t>
            </a:r>
            <a:br/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보충하는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동안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이차암이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많았습니다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25702"/>
            <a:ext cx="5196535" cy="3486302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71831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97739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“몸에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좋은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항산화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영양제는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많이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먹을수록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996641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255721"/>
            <a:ext cx="4611319" cy="966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치료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중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고용량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항산화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보충제는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권하지</a:t>
            </a:r>
            <a:br/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않습니다.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음식으로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채소·과일은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다른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이야기입니다.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4405122"/>
            <a:ext cx="4611319" cy="2599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방사선치료는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활성산소로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암세포를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공격합니다.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두경부암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540명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시험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비타민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E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966682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99044"/>
            <a:ext cx="1400682" cy="36576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640776"/>
            <a:ext cx="82296" cy="82296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499044"/>
            <a:ext cx="1034922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39124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5004"/>
            <a:ext cx="5074920" cy="339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자몽을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지나도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78795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279963"/>
            <a:ext cx="1638299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분의 </a:t>
            </a: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95499" y="4474273"/>
            <a:ext cx="3710940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효과의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이만큼이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남습니다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06372"/>
            <a:ext cx="5196535" cy="365363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598980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58060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“자몽은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시간만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피해서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먹으면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된대요.”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87731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3136391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시간을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띄워도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해결되지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않습니다.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문제는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드시는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3969715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라임·포멜로도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같고,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네이블·발렌시아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보통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오렌지는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괜찮습니다.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항암제·표적치료제·항호르몬제에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따라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판단이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다르니,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앱에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약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이름을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넣어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보세요.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라임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포멜로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837518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9309"/>
            <a:ext cx="1400682" cy="36576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471041"/>
            <a:ext cx="82296" cy="82296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329309"/>
            <a:ext cx="1034922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3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9388"/>
            <a:ext cx="5440680" cy="12801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25,871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5269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일반인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예방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연구(VITAL)에서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발생이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줄지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않았습니다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48531"/>
            <a:ext cx="507492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449699"/>
            <a:ext cx="1746504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  <a:r>
              <a:rPr sz="18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µg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03704" y="4644008"/>
            <a:ext cx="3602735" cy="2880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상한입니다(4,000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IU)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188948"/>
            <a:ext cx="5196535" cy="2501188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1481556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740636"/>
            <a:ext cx="4611319" cy="4273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“비타민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D는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많이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먹을수록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350846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609926"/>
            <a:ext cx="4611319" cy="650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결핍이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있으면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채우는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것이고,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항암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효과를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기대한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고용량은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확인되지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964457"/>
            <a:ext cx="45720" cy="1201674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37959" y="3991889"/>
            <a:ext cx="4922215" cy="2506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하나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“햄·소시지가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담배랑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같은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1군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발암물질이래요.”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315739"/>
            <a:ext cx="49222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줄이시는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맞지만,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담배만큼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위험하다는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아닙니다.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국제암연구소의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1군은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“근거가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얼마나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확실한가”를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말하는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등급입니다.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완전히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끊기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어렵다면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1회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이하,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번에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조금으로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줄여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보세요.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VITAL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25,871명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국제암연구소(IARC)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708353" cy="45720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44980"/>
            <a:ext cx="2127123" cy="365760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886712"/>
            <a:ext cx="82296" cy="82296"/>
          </a:xfrm>
          <a:prstGeom prst="ellipse">
            <a:avLst/>
          </a:prstGeom>
          <a:solidFill>
            <a:srgbClr val="7A3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744980"/>
            <a:ext cx="1761363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3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8506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전절제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비타민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B12,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23388"/>
            <a:ext cx="5440680" cy="933449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0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500</a:t>
            </a:r>
            <a:r>
              <a:rPr sz="7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70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1,500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µg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2557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방법도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연구되어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있습니다.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주사가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흔히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쓰입니다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726414"/>
            <a:ext cx="5196535" cy="333756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56248" y="1019022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1278102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“위를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다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떼어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냈는데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종합비타민이면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충분하겠지요?”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297353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2556433"/>
            <a:ext cx="4611319" cy="3343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비타민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B12는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평생,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챙기셔야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073679"/>
            <a:ext cx="4611319" cy="743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전절제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뒤에는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B12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흡수에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필요한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물질이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없어집니다.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종합비타민은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제품마다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양이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달라,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방법과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용량은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의료진과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정하세요.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338294"/>
            <a:ext cx="45720" cy="1201674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37959" y="4365726"/>
            <a:ext cx="4922215" cy="25069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하나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“위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수술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뒤에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곶감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정도는</a:t>
            </a:r>
            <a:r>
              <a:rPr sz="125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괜찮겠지요?”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689576"/>
            <a:ext cx="492221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감·곶감은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조심하세요.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감의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탄닌이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위액과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만나면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섬유가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엉겨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덩어리(위석)가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될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있습니다.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위절제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뒤에는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위의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움직임이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줄어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더</a:t>
            </a:r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잘</a:t>
            </a:r>
            <a:br/>
            <a:r>
              <a:rPr sz="12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생깁니다.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수술을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받으셨다면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79189" cy="45720"/>
          </a:xfrm>
          <a:prstGeom prst="rect">
            <a:avLst/>
          </a:prstGeom>
          <a:solidFill>
            <a:srgbClr val="5E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55089"/>
            <a:ext cx="1607057" cy="365760"/>
          </a:xfrm>
          <a:prstGeom prst="roundRect">
            <a:avLst>
              <a:gd name="adj" fmla="val 50000"/>
            </a:avLst>
          </a:prstGeom>
          <a:solidFill>
            <a:srgbClr val="E5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96820"/>
            <a:ext cx="82296" cy="82296"/>
          </a:xfrm>
          <a:prstGeom prst="ellipse">
            <a:avLst/>
          </a:prstGeom>
          <a:solidFill>
            <a:srgbClr val="5E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855089"/>
            <a:ext cx="1241298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3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3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95169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800" b="1">
                <a:solidFill>
                  <a:srgbClr val="46515C"/>
                </a:solidFill>
                <a:latin typeface="Apple SD Gothic Neo"/>
                <a:ea typeface="Apple SD Gothic Neo"/>
                <a:cs typeface="Apple SD Gothic Neo"/>
              </a:rPr>
              <a:t>아직 모릅니다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92449"/>
            <a:ext cx="5074920" cy="6789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모르는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모른다고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해롭다는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뜻이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아니라,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연구가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없다는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뜻입니다.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870965"/>
            <a:ext cx="5196535" cy="4453127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56248" y="1163573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들은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1422653"/>
            <a:ext cx="4611319" cy="8363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“칡즙이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갱년기에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좋대요.”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br/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“로열젤리가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기운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나게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해</a:t>
            </a:r>
            <a:r>
              <a:rPr sz="2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준대요.”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441905"/>
            <a:ext cx="4611319" cy="2042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10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보니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700985"/>
            <a:ext cx="4611319" cy="966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호르몬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양성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유방암이라면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‘주의’로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둡니다.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해롭다는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있어서가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아니라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br/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없어서입니다.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3850385"/>
            <a:ext cx="4611319" cy="12268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칡뿌리는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식물성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에스트로겐이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많지만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환자가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먹어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본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연구는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찾지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못했습니다.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로열젤리는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동물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실험에서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에스트로겐과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비슷한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작용이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보고되었고,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벌·꽃가루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알레르기나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천식이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있으시면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마세요.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칡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전분으로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만든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냉면·묵은</a:t>
            </a:r>
            <a:br/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해당하지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않습니다.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칡뿌리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로열젤리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5002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어떻게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확인했나요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1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168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50749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참고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문헌을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요약이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아니라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원문으로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찾아,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앱의</a:t>
            </a:r>
            <a:br/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문장과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줄씩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맞춰</a:t>
            </a:r>
            <a:r>
              <a:rPr sz="16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보았습니다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600200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63640" y="1828800"/>
            <a:ext cx="519653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만든</a:t>
            </a: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사람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258568"/>
            <a:ext cx="519653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방사선종양학과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전문의가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만들었습니다.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8920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19653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447287"/>
            <a:ext cx="519653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문장마다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얼마나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단단한지(A·B·C)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등급을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63640" y="4206240"/>
            <a:ext cx="5196535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“아직</a:t>
            </a: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 모릅니다”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636007"/>
            <a:ext cx="5196535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모르는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모른다고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5166359"/>
            <a:ext cx="519653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자료의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숫자는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2026년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15일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앱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화면의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문장과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같습니다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32085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하루차림이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하지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않는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4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하지 않는 것도 분명히 말씀드립니다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333237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33323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치료를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대신하지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333237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모든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안내는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“담당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br/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상의하세요”로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끝납니다.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9658" y="3291840"/>
            <a:ext cx="333237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29658" y="3520440"/>
            <a:ext cx="33323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아무것도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팔지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4023360"/>
            <a:ext cx="333237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건강식품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광고도,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제휴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판매도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7796" y="3291840"/>
            <a:ext cx="333237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27796" y="3520440"/>
            <a:ext cx="333237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기록은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기기</a:t>
            </a:r>
            <a:r>
              <a:rPr sz="21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안에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7796" y="4023360"/>
            <a:ext cx="333237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5000"/>
              </a:lnSpc>
            </a:pP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입력하신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기록은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기기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안에</a:t>
            </a:r>
            <a:r>
              <a:rPr sz="14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저장됩니다.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의료기기가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아니며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진단·치료를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목적으로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휴대폰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카메라로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찍으시면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바로</a:t>
            </a:r>
            <a:r>
              <a:rPr sz="13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열립니다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713232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5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3383280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3291840"/>
            <a:ext cx="67665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암종·치료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단계·드시는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약에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맞춰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세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끼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한식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상차림을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추천합니다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840479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749039"/>
            <a:ext cx="67665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유방·위·대장·폐·간·전립선·췌장·식도·두경부·부인암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297679"/>
            <a:ext cx="91440" cy="91440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206240"/>
            <a:ext cx="676656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방사선종양학과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전문의가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만든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무료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앱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판매</a:t>
            </a:r>
            <a:r>
              <a:rPr sz="155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920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이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자료는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일반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정보입니다.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개인의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치료와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식사는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정하십시오.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1828800"/>
            <a:ext cx="2907792" cy="3319272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57400"/>
            <a:ext cx="2450592" cy="24505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49640" y="4626864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2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pple SD Gothic Neo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ple SD Gothic Neo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 이야기, 정말일까요 — 하루차림</dc:title>
  <dc:subject/>
  <dc:creator>하루차림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